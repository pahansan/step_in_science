
<file path=[Content_Types].xml><?xml version="1.0" encoding="utf-8"?>
<Types xmlns="http://schemas.openxmlformats.org/package/2006/content-types">
  <Default Extension="xml" ContentType="application/xml"/>
  <Default Extension="svg" ContentType="image/svg+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8"/>
  </p:notesMasterIdLst>
  <p:sldIdLst>
    <p:sldId id="256" r:id="rId4"/>
    <p:sldId id="257" r:id="rId5"/>
    <p:sldId id="258" r:id="rId6"/>
    <p:sldId id="259" r:id="rId7"/>
  </p:sldIdLst>
  <p:sldSz cx="12192000" cy="6858000"/>
  <p:notesSz cx="6858000" cy="9144000"/>
  <p:defaultTextStyle>
    <a:defPPr>
      <a:defRPr lang="ru-RU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6" d="100"/>
          <a:sy n="106" d="100"/>
        </p:scale>
        <p:origin x="756" y="96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 /><Relationship Id="rId10" Type="http://schemas.openxmlformats.org/officeDocument/2006/relationships/tableStyles" Target="tableStyles.xml" /><Relationship Id="rId11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3472054" name="Верхний колонтитул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15784914" name="Дата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ru-RU"/>
              <a:t>14.06.2025</a:t>
            </a:fld>
            <a:endParaRPr lang="ru-RU"/>
          </a:p>
        </p:txBody>
      </p:sp>
      <p:sp>
        <p:nvSpPr>
          <p:cNvPr id="987073338" name="Рисунок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1985341296" name="Заметка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880474311" name="Нижний колонтитул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88860501" name="Номер слайда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4841052" name="Google Shape;204;p1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2" tIns="91422" rIns="91422" bIns="91422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611866328" name="Google Shape;205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5047912" name="Рисунок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65469553" name="Текст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>
              <a:latin typeface="Arial"/>
              <a:cs typeface="Arial"/>
            </a:endParaRPr>
          </a:p>
        </p:txBody>
      </p:sp>
      <p:sp>
        <p:nvSpPr>
          <p:cNvPr id="2083720832" name="Номер слайда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ru-RU"/>
              <a:t>2</a:t>
            </a:fld>
            <a:endParaRPr lang="ru-RU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7199354" name="Рисунок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31356585" name="Текст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>
              <a:latin typeface="Arial"/>
              <a:cs typeface="Arial"/>
            </a:endParaRPr>
          </a:p>
        </p:txBody>
      </p:sp>
      <p:sp>
        <p:nvSpPr>
          <p:cNvPr id="32923533" name="Номер слайда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00436B-8833-6612-42E0-D724A6CBCCF1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9771053" name="Google Shape;204;p1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2" tIns="91422" rIns="91422" bIns="91422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793298954" name="Google Shape;205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3793258" name="Заголовок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17110036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  <a:endParaRPr/>
          </a:p>
        </p:txBody>
      </p:sp>
      <p:sp>
        <p:nvSpPr>
          <p:cNvPr id="1220838395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14.06.2025</a:t>
            </a:fld>
            <a:endParaRPr lang="ru-RU"/>
          </a:p>
        </p:txBody>
      </p:sp>
      <p:sp>
        <p:nvSpPr>
          <p:cNvPr id="1405388527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969834897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8146604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670547468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992795549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14.06.2025</a:t>
            </a:fld>
            <a:endParaRPr lang="ru-RU"/>
          </a:p>
        </p:txBody>
      </p:sp>
      <p:sp>
        <p:nvSpPr>
          <p:cNvPr id="562580334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573911402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9941241" name="Заголовок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797300756" name="Текст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819156851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14.06.2025</a:t>
            </a:fld>
            <a:endParaRPr lang="ru-RU"/>
          </a:p>
        </p:txBody>
      </p:sp>
      <p:sp>
        <p:nvSpPr>
          <p:cNvPr id="40505464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485838649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0605070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659664967" name="Объект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203529188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291300568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14.06.2025</a:t>
            </a:fld>
            <a:endParaRPr lang="ru-RU"/>
          </a:p>
        </p:txBody>
      </p:sp>
      <p:sp>
        <p:nvSpPr>
          <p:cNvPr id="428827035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55164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3448106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834407358" name="Текст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47908427" name="Объект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352293965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24616780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690739650" name="Дата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14.06.2025</a:t>
            </a:fld>
            <a:endParaRPr lang="ru-RU"/>
          </a:p>
        </p:txBody>
      </p:sp>
      <p:sp>
        <p:nvSpPr>
          <p:cNvPr id="941067612" name="Нижний колонтитул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555537545" name="Номер слайда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406699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847714183" name="Дата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14.06.2025</a:t>
            </a:fld>
            <a:endParaRPr lang="ru-RU"/>
          </a:p>
        </p:txBody>
      </p:sp>
      <p:sp>
        <p:nvSpPr>
          <p:cNvPr id="1121232294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549098496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6538537" name="Дата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14.06.2025</a:t>
            </a:fld>
            <a:endParaRPr lang="ru-RU"/>
          </a:p>
        </p:txBody>
      </p:sp>
      <p:sp>
        <p:nvSpPr>
          <p:cNvPr id="340628778" name="Нижний колонтитул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59268225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7023124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891089804" name="Объект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257875446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820854916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14.06.2025</a:t>
            </a:fld>
            <a:endParaRPr lang="ru-RU"/>
          </a:p>
        </p:txBody>
      </p:sp>
      <p:sp>
        <p:nvSpPr>
          <p:cNvPr id="464262914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658994272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6773579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42392588" name="Рисунок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ru-RU"/>
              <a:t>Нажмите, чтобы добавить изображение</a:t>
            </a:r>
            <a:endParaRPr/>
          </a:p>
        </p:txBody>
      </p:sp>
      <p:sp>
        <p:nvSpPr>
          <p:cNvPr id="668674258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35961521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14.06.2025</a:t>
            </a:fld>
            <a:endParaRPr lang="ru-RU"/>
          </a:p>
        </p:txBody>
      </p:sp>
      <p:sp>
        <p:nvSpPr>
          <p:cNvPr id="2119041087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538541195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801816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465283676" name="Вертикальный текст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468075583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14.06.2025</a:t>
            </a:fld>
            <a:endParaRPr lang="ru-RU"/>
          </a:p>
        </p:txBody>
      </p:sp>
      <p:sp>
        <p:nvSpPr>
          <p:cNvPr id="1425757279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44305940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2933923" name="Вертикальный заголовок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441370084" name="Вертикальный текст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702336868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14.06.2025</a:t>
            </a:fld>
            <a:endParaRPr lang="ru-RU"/>
          </a:p>
        </p:txBody>
      </p:sp>
      <p:sp>
        <p:nvSpPr>
          <p:cNvPr id="41292175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58397690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4885464" name="Заголовок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330174384" name="Текст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987441479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ru-RU"/>
              <a:t>14.06.2025</a:t>
            </a:fld>
            <a:endParaRPr lang="ru-RU"/>
          </a:p>
        </p:txBody>
      </p:sp>
      <p:sp>
        <p:nvSpPr>
          <p:cNvPr id="1809766196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67577694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media1.svg"/><Relationship Id="rId6" Type="http://schemas.openxmlformats.org/officeDocument/2006/relationships/image" Target="../media/image3.png"/><Relationship Id="rId7" Type="http://schemas.openxmlformats.org/officeDocument/2006/relationships/image" Target="../media/media2.sv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F3864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7951627" name="Прямоугольник 1424465501"/>
          <p:cNvSpPr/>
          <p:nvPr/>
        </p:nvSpPr>
        <p:spPr bwMode="auto">
          <a:xfrm>
            <a:off x="430249" y="1313998"/>
            <a:ext cx="11247436" cy="2346201"/>
          </a:xfrm>
          <a:prstGeom prst="rect">
            <a:avLst/>
          </a:prstGeom>
          <a:solidFill>
            <a:srgbClr val="020F28">
              <a:alpha val="13999"/>
            </a:srgbClr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216000" tIns="45720" rIns="91440" bIns="45720" numCol="1" spcCol="0" rtlCol="0" fromWordArt="0" anchor="ctr" anchorCtr="0" forceAA="0" compatLnSpc="0"/>
          <a:lstStyle/>
          <a:p>
            <a:pPr algn="l">
              <a:defRPr/>
            </a:pPr>
            <a:r>
              <a:rPr lang="ru-RU" sz="4000" b="1" i="0" u="none" strike="noStrike" cap="none" spc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Векторизация в LLVM одного класса циклов методом их расщепления</a:t>
            </a:r>
            <a:endParaRPr sz="4000">
              <a:latin typeface="Open Sans"/>
              <a:cs typeface="Open Sans"/>
            </a:endParaRPr>
          </a:p>
        </p:txBody>
      </p:sp>
      <p:pic>
        <p:nvPicPr>
          <p:cNvPr id="2128312206" name="Рисунок 709840399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-7011" y="49299"/>
            <a:ext cx="4964950" cy="952020"/>
          </a:xfrm>
          <a:prstGeom prst="rect">
            <a:avLst/>
          </a:prstGeom>
        </p:spPr>
      </p:pic>
      <p:pic>
        <p:nvPicPr>
          <p:cNvPr id="355565417" name="Рисунок 827580458"/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 bwMode="auto">
          <a:xfrm>
            <a:off x="1663196" y="191818"/>
            <a:ext cx="1405647" cy="421692"/>
          </a:xfrm>
          <a:prstGeom prst="rect">
            <a:avLst/>
          </a:prstGeom>
        </p:spPr>
      </p:pic>
      <p:pic>
        <p:nvPicPr>
          <p:cNvPr id="2003599142" name="Рисунок 2056434285"/>
          <p:cNvPicPr>
            <a:picLocks noChangeAspect="1"/>
          </p:cNvPicPr>
          <p:nvPr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 bwMode="auto">
          <a:xfrm>
            <a:off x="311801" y="191818"/>
            <a:ext cx="1039196" cy="484845"/>
          </a:xfrm>
          <a:prstGeom prst="rect">
            <a:avLst/>
          </a:prstGeom>
        </p:spPr>
      </p:pic>
      <p:sp>
        <p:nvSpPr>
          <p:cNvPr id="481133935" name="Прямоугольник 13"/>
          <p:cNvSpPr/>
          <p:nvPr/>
        </p:nvSpPr>
        <p:spPr bwMode="auto">
          <a:xfrm>
            <a:off x="365256" y="3915842"/>
            <a:ext cx="11462924" cy="21339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400" b="1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Кулик Павел Евгеньевич</a:t>
            </a:r>
            <a:endParaRPr sz="100">
              <a:solidFill>
                <a:schemeClr val="bg1"/>
              </a:solidFill>
              <a:latin typeface="Open Sans"/>
              <a:cs typeface="Open Sans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600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студент </a:t>
            </a:r>
            <a:r>
              <a:rPr lang="en-US" sz="1600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4</a:t>
            </a:r>
            <a:r>
              <a:rPr lang="ru-RU" sz="1600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 курса</a:t>
            </a:r>
            <a:endParaRPr/>
          </a:p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lang="ru-RU" sz="1600">
              <a:solidFill>
                <a:schemeClr val="bg1"/>
              </a:solidFill>
              <a:latin typeface="Open Sans"/>
              <a:ea typeface="Open Sans"/>
              <a:cs typeface="Open Sans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600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Институт информатики и вычислительной техники</a:t>
            </a:r>
            <a:br>
              <a:rPr lang="ru-RU" sz="1600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</a:br>
            <a:r>
              <a:rPr lang="ru-RU" sz="1600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Сибирский государственный университет телекоммуникаций и информатики</a:t>
            </a:r>
            <a:endParaRPr>
              <a:solidFill>
                <a:schemeClr val="bg1"/>
              </a:solidFill>
              <a:latin typeface="Open Sans"/>
              <a:cs typeface="Open Sans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0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pashakulik58@gmail.com</a:t>
            </a:r>
            <a:endParaRPr sz="1400">
              <a:solidFill>
                <a:schemeClr val="bg1"/>
              </a:solidFill>
              <a:latin typeface="Open Sans"/>
              <a:cs typeface="Open Sans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600">
              <a:solidFill>
                <a:schemeClr val="bg1"/>
              </a:solidFill>
              <a:latin typeface="Open Sans"/>
              <a:cs typeface="Open Sans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600" b="0" i="0" u="none" strike="noStrike" cap="none" spc="0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Научный руководитель — д.т.н. профессор Курносов М.Г.</a:t>
            </a:r>
            <a:endParaRPr sz="1600">
              <a:solidFill>
                <a:schemeClr val="bg1"/>
              </a:solidFill>
              <a:latin typeface="Open Sans"/>
              <a:cs typeface="Open Sans"/>
            </a:endParaRPr>
          </a:p>
        </p:txBody>
      </p:sp>
      <p:sp>
        <p:nvSpPr>
          <p:cNvPr id="433442133" name="Прямоугольник 15"/>
          <p:cNvSpPr/>
          <p:nvPr/>
        </p:nvSpPr>
        <p:spPr bwMode="auto">
          <a:xfrm>
            <a:off x="173592" y="6363406"/>
            <a:ext cx="11857970" cy="3965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000" b="0" i="0" u="none" strike="noStrike" cap="none" spc="0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Региональная научно-практическая конференция для магистрантов и аспирантов «Шаг в науку - 2025»</a:t>
            </a:r>
            <a:endParaRPr lang="en-US" sz="1000" b="0" i="0" u="none" strike="noStrike" cap="none" spc="0">
              <a:solidFill>
                <a:schemeClr val="bg1"/>
              </a:solidFill>
              <a:latin typeface="Open Sans"/>
              <a:ea typeface="Open Sans"/>
              <a:cs typeface="Open Sans"/>
            </a:endParaRPr>
          </a:p>
          <a:p>
            <a:pPr algn="ctr">
              <a:defRPr/>
            </a:pPr>
            <a:r>
              <a:rPr lang="ru-RU" sz="1000" b="0" i="0" u="none" strike="noStrike" cap="none" spc="0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Новосибирск, СибГУТИ, 20 ноября 2025</a:t>
            </a:r>
            <a:endParaRPr lang="en-US" sz="1000" b="0" i="0" u="none" strike="noStrike" cap="none" spc="0">
              <a:solidFill>
                <a:schemeClr val="bg1"/>
              </a:solidFill>
              <a:latin typeface="Open Sans"/>
              <a:cs typeface="Open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2086827" name="TextBox 1765524423"/>
          <p:cNvSpPr txBox="1"/>
          <p:nvPr/>
        </p:nvSpPr>
        <p:spPr bwMode="auto">
          <a:xfrm>
            <a:off x="303247" y="226560"/>
            <a:ext cx="11622245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ru-RU" sz="3600">
                <a:latin typeface="Open Sans Extrabold"/>
                <a:cs typeface="Open Sans Extrabold"/>
              </a:rPr>
              <a:t>Векторизация</a:t>
            </a:r>
            <a:endParaRPr sz="3600">
              <a:latin typeface="Open Sans Extrabold"/>
              <a:cs typeface="Open Sans Extrabold"/>
            </a:endParaRPr>
          </a:p>
        </p:txBody>
      </p:sp>
      <p:sp>
        <p:nvSpPr>
          <p:cNvPr id="313878039" name="TextBox 1"/>
          <p:cNvSpPr txBox="1"/>
          <p:nvPr/>
        </p:nvSpPr>
        <p:spPr bwMode="auto">
          <a:xfrm>
            <a:off x="303247" y="1169194"/>
            <a:ext cx="10143128" cy="37493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Векторизация</a:t>
            </a:r>
            <a:r>
              <a:rPr sz="2400"/>
              <a:t> — это </a:t>
            </a:r>
            <a:r>
              <a:rPr sz="2400"/>
              <a:t>процесс написания или трансляции программного кода с учётом использования векторных инструкций целевой платформы.</a:t>
            </a:r>
            <a:endParaRPr sz="2400"/>
          </a:p>
          <a:p>
            <a:pPr>
              <a:defRPr/>
            </a:pPr>
            <a:endParaRPr sz="2400"/>
          </a:p>
          <a:p>
            <a:pPr marL="349965" indent="-349965">
              <a:buFont typeface="Arial"/>
              <a:buChar char="•"/>
              <a:defRPr/>
            </a:pPr>
            <a:r>
              <a:rPr sz="2400"/>
              <a:t>Позволяет снизить время выполнения программы за счёт параллельной обработки данных;</a:t>
            </a:r>
            <a:endParaRPr sz="2400"/>
          </a:p>
          <a:p>
            <a:pPr marL="349965" indent="-349965">
              <a:buFont typeface="Arial"/>
              <a:buChar char="•"/>
              <a:defRPr/>
            </a:pPr>
            <a:r>
              <a:rPr sz="2400"/>
              <a:t>Векторизованная программа задействует векторные регистры процессора и не требует больше одного потока;</a:t>
            </a:r>
            <a:endParaRPr sz="2400"/>
          </a:p>
          <a:p>
            <a:pPr marL="349965" indent="-349965">
              <a:buFont typeface="Arial"/>
              <a:buChar char="•"/>
              <a:defRPr/>
            </a:pPr>
            <a:r>
              <a:rPr sz="2400"/>
              <a:t>Может быть осуществлена компилятором, что не требует изменений в исходном коде.</a:t>
            </a:r>
            <a:endParaRPr sz="2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7968565" name="TextBox 1765524423"/>
          <p:cNvSpPr txBox="1"/>
          <p:nvPr/>
        </p:nvSpPr>
        <p:spPr bwMode="auto">
          <a:xfrm>
            <a:off x="303247" y="226560"/>
            <a:ext cx="11630165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ru-RU" sz="3600">
                <a:latin typeface="Open Sans Extrabold"/>
                <a:cs typeface="Open Sans Extrabold"/>
              </a:rPr>
              <a:t>Векторизуемые таргеты </a:t>
            </a:r>
            <a:r>
              <a:rPr lang="en-US" sz="3600">
                <a:latin typeface="Open Sans Extrabold"/>
                <a:cs typeface="Open Sans Extrabold"/>
              </a:rPr>
              <a:t>LLVM</a:t>
            </a:r>
            <a:endParaRPr sz="3600">
              <a:latin typeface="Open Sans Extrabold"/>
              <a:cs typeface="Open Sans Extrabold"/>
            </a:endParaRPr>
          </a:p>
        </p:txBody>
      </p:sp>
      <p:sp>
        <p:nvSpPr>
          <p:cNvPr id="847395020" name="TextBox 1"/>
          <p:cNvSpPr txBox="1"/>
          <p:nvPr/>
        </p:nvSpPr>
        <p:spPr bwMode="auto">
          <a:xfrm flipH="0" flipV="0">
            <a:off x="303247" y="1426369"/>
            <a:ext cx="10521366" cy="4575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2400"/>
              <a:t>Таргеты, для которых </a:t>
            </a:r>
            <a:r>
              <a:rPr lang="en-US" sz="2400"/>
              <a:t>LLVM </a:t>
            </a:r>
            <a:r>
              <a:rPr lang="ru-RU" sz="2400"/>
              <a:t>может генерировать векторные инструкции</a:t>
            </a:r>
            <a:r>
              <a:rPr sz="2400"/>
              <a:t>:</a:t>
            </a:r>
            <a:endParaRPr sz="2400"/>
          </a:p>
        </p:txBody>
      </p:sp>
      <p:grpSp>
        <p:nvGrpSpPr>
          <p:cNvPr id="796789857" name=""/>
          <p:cNvGrpSpPr/>
          <p:nvPr/>
        </p:nvGrpSpPr>
        <p:grpSpPr bwMode="auto">
          <a:xfrm>
            <a:off x="1062956" y="2273249"/>
            <a:ext cx="10022399" cy="3182400"/>
            <a:chOff x="0" y="0"/>
            <a:chExt cx="10022399" cy="3182400"/>
          </a:xfrm>
        </p:grpSpPr>
        <p:sp modelId="{8F416DF4-555D-452D-8B22-4D97EC146C00}">
          <p:nvSpPr>
            <p:cNvPr id="469252228" name=""/>
            <p:cNvSpPr/>
            <p:nvPr/>
          </p:nvSpPr>
          <p:spPr bwMode="auto">
            <a:xfrm rot="0" flipH="0" flipV="0">
              <a:off x="1440000" y="2160000"/>
              <a:ext cx="2822400" cy="1022400"/>
            </a:xfrm>
            <a:prstGeom prst="roundRect">
              <a:avLst>
                <a:gd name="adj" fmla="val 10000"/>
              </a:avLst>
            </a:prstGeom>
            <a:solidFill>
              <a:schemeClr val="accent1">
                <a:hueOff val="0"/>
                <a:satOff val="0"/>
                <a:lumOff val="0"/>
                <a:alphaOff val="0"/>
                <a:alpha val="99999"/>
              </a:schemeClr>
            </a:solidFill>
            <a:ln w="12699" cap="flat" cmpd="sng" algn="ctr">
              <a:noFill/>
              <a:prstDash val="solid"/>
              <a:miter lim="800000"/>
            </a:ln>
            <a:effectLst/>
          </p:spPr>
          <p:style>
            <a:lnRef idx="2">
              <a:srgbClr val="000000"/>
            </a:lnRef>
            <a:fillRef idx="1">
              <a:srgbClr val="000000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square" lIns="72389" tIns="72389" rIns="72389" bIns="72389" numCol="1" spcCol="1269" rtlCol="0" fromWordArt="0" anchor="ctr" anchorCtr="0" forceAA="0" upright="0" compatLnSpc="0">
              <a:noAutofit/>
            </a:bodyPr>
            <a:lstStyle/>
            <a:p>
              <a:pPr marL="0" lvl="0" indent="0" algn="ctr" defTabSz="2889249">
                <a:lnSpc>
                  <a:spcPct val="90000"/>
                </a:lnSpc>
                <a:spcBef>
                  <a:spcPts val="0"/>
                </a:spcBef>
                <a:spcAft>
                  <a:spcPts val="797"/>
                </a:spcAft>
                <a:buNone/>
                <a:defRPr/>
              </a:pPr>
              <a:r>
                <a:rPr lang="ru-RU" sz="1900" b="0" i="0" u="none" strike="noStrike" cap="none" spc="0">
                  <a:solidFill>
                    <a:schemeClr val="bg1"/>
                  </a:solidFill>
                  <a:latin typeface="Arial"/>
                  <a:ea typeface="Arial"/>
                  <a:cs typeface="Arial"/>
                </a:rPr>
                <a:t>AMDGPU</a:t>
              </a:r>
              <a:endParaRPr sz="1900">
                <a:solidFill>
                  <a:schemeClr val="bg1"/>
                </a:solidFill>
              </a:endParaRPr>
            </a:p>
          </p:txBody>
        </p:sp>
        <p:sp modelId="{759077B5-540E-4BB1-9739-4810333C7FDF}">
          <p:nvSpPr>
            <p:cNvPr id="1530295377" name=""/>
            <p:cNvSpPr/>
            <p:nvPr/>
          </p:nvSpPr>
          <p:spPr bwMode="auto">
            <a:xfrm rot="0" flipH="0" flipV="0">
              <a:off x="0" y="1080000"/>
              <a:ext cx="2822400" cy="1022400"/>
            </a:xfrm>
            <a:prstGeom prst="roundRect">
              <a:avLst>
                <a:gd name="adj" fmla="val 10000"/>
              </a:avLst>
            </a:prstGeom>
            <a:solidFill>
              <a:schemeClr val="accent1">
                <a:hueOff val="0"/>
                <a:satOff val="0"/>
                <a:lumOff val="0"/>
                <a:alphaOff val="0"/>
                <a:alpha val="99999"/>
              </a:schemeClr>
            </a:solidFill>
            <a:ln w="12699" cap="flat" cmpd="sng" algn="ctr">
              <a:noFill/>
              <a:prstDash val="solid"/>
              <a:miter lim="800000"/>
            </a:ln>
            <a:effectLst/>
          </p:spPr>
          <p:style>
            <a:lnRef idx="2">
              <a:srgbClr val="000000"/>
            </a:lnRef>
            <a:fillRef idx="1">
              <a:srgbClr val="000000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square" lIns="72389" tIns="72389" rIns="72389" bIns="72389" numCol="1" spcCol="1269" rtlCol="0" fromWordArt="0" anchor="ctr" anchorCtr="0" forceAA="0" upright="0" compatLnSpc="0">
              <a:noAutofit/>
            </a:bodyPr>
            <a:lstStyle/>
            <a:p>
              <a:pPr marL="0" lvl="0" indent="0" algn="ctr" defTabSz="2889249">
                <a:lnSpc>
                  <a:spcPct val="90000"/>
                </a:lnSpc>
                <a:spcBef>
                  <a:spcPts val="0"/>
                </a:spcBef>
                <a:spcAft>
                  <a:spcPts val="797"/>
                </a:spcAft>
                <a:buNone/>
                <a:defRPr/>
              </a:pPr>
              <a:r>
                <a:rPr lang="ru-RU" sz="1900" b="0" i="0" u="none" strike="noStrike" cap="none" spc="0">
                  <a:solidFill>
                    <a:schemeClr val="bg1"/>
                  </a:solidFill>
                  <a:latin typeface="Arial"/>
                  <a:ea typeface="Arial"/>
                  <a:cs typeface="Arial"/>
                </a:rPr>
                <a:t>PowerPC</a:t>
              </a:r>
              <a:endParaRPr sz="1900">
                <a:solidFill>
                  <a:schemeClr val="bg1"/>
                </a:solidFill>
              </a:endParaRPr>
            </a:p>
          </p:txBody>
        </p:sp>
        <p:sp modelId="{E040BF82-84FA-4ECE-A536-4DE51C1B2181}">
          <p:nvSpPr>
            <p:cNvPr id="20619745" name=""/>
            <p:cNvSpPr/>
            <p:nvPr/>
          </p:nvSpPr>
          <p:spPr bwMode="auto">
            <a:xfrm rot="0" flipH="0" flipV="0">
              <a:off x="0" y="0"/>
              <a:ext cx="1382400" cy="1022400"/>
            </a:xfrm>
            <a:prstGeom prst="roundRect">
              <a:avLst>
                <a:gd name="adj" fmla="val 10000"/>
              </a:avLst>
            </a:prstGeom>
            <a:solidFill>
              <a:schemeClr val="accent1">
                <a:hueOff val="0"/>
                <a:satOff val="0"/>
                <a:lumOff val="0"/>
                <a:alphaOff val="0"/>
                <a:alpha val="99999"/>
              </a:schemeClr>
            </a:solidFill>
            <a:ln w="12699" cap="flat" cmpd="sng" algn="ctr">
              <a:noFill/>
              <a:prstDash val="solid"/>
              <a:miter lim="800000"/>
            </a:ln>
            <a:effectLst/>
          </p:spPr>
          <p:style>
            <a:lnRef idx="2">
              <a:srgbClr val="000000"/>
            </a:lnRef>
            <a:fillRef idx="1">
              <a:srgbClr val="000000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square" lIns="72389" tIns="72389" rIns="72389" bIns="72389" numCol="1" spcCol="1269" rtlCol="0" fromWordArt="0" anchor="ctr" anchorCtr="0" forceAA="0" upright="0" compatLnSpc="0">
              <a:noAutofit/>
            </a:bodyPr>
            <a:lstStyle/>
            <a:p>
              <a:pPr marL="0" lvl="0" indent="0" algn="ctr" defTabSz="2889249">
                <a:lnSpc>
                  <a:spcPct val="90000"/>
                </a:lnSpc>
                <a:spcBef>
                  <a:spcPts val="0"/>
                </a:spcBef>
                <a:spcAft>
                  <a:spcPts val="797"/>
                </a:spcAft>
                <a:buNone/>
                <a:defRPr/>
              </a:pPr>
              <a:r>
                <a:rPr lang="ru-RU" sz="1900" b="0" i="0" u="none" strike="noStrike" cap="none" spc="0">
                  <a:solidFill>
                    <a:schemeClr val="bg1"/>
                  </a:solidFill>
                  <a:latin typeface="Arial"/>
                  <a:ea typeface="Arial"/>
                  <a:cs typeface="Arial"/>
                </a:rPr>
                <a:t>AArch64</a:t>
              </a:r>
              <a:endParaRPr sz="1900">
                <a:solidFill>
                  <a:schemeClr val="bg1"/>
                </a:solidFill>
              </a:endParaRPr>
            </a:p>
          </p:txBody>
        </p:sp>
        <p:sp modelId="{15F6ED86-2A0E-4E21-858B-E151AC8718EF}">
          <p:nvSpPr>
            <p:cNvPr id="1466677676" name=""/>
            <p:cNvSpPr/>
            <p:nvPr/>
          </p:nvSpPr>
          <p:spPr bwMode="auto">
            <a:xfrm rot="0" flipH="0" flipV="0">
              <a:off x="1440000" y="0"/>
              <a:ext cx="1382400" cy="1022400"/>
            </a:xfrm>
            <a:prstGeom prst="roundRect">
              <a:avLst>
                <a:gd name="adj" fmla="val 10000"/>
              </a:avLst>
            </a:prstGeom>
            <a:solidFill>
              <a:schemeClr val="accent1">
                <a:hueOff val="0"/>
                <a:satOff val="0"/>
                <a:lumOff val="0"/>
                <a:alphaOff val="0"/>
                <a:alpha val="99999"/>
              </a:schemeClr>
            </a:solidFill>
            <a:ln w="12699" cap="flat" cmpd="sng" algn="ctr">
              <a:noFill/>
              <a:prstDash val="solid"/>
              <a:miter lim="800000"/>
            </a:ln>
            <a:effectLst/>
          </p:spPr>
          <p:style>
            <a:lnRef idx="2">
              <a:srgbClr val="000000"/>
            </a:lnRef>
            <a:fillRef idx="1">
              <a:srgbClr val="000000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square" lIns="72389" tIns="72389" rIns="72389" bIns="72389" numCol="1" spcCol="1269" rtlCol="0" fromWordArt="0" anchor="ctr" anchorCtr="0" forceAA="0" upright="0" compatLnSpc="0">
              <a:noAutofit/>
            </a:bodyPr>
            <a:lstStyle/>
            <a:p>
              <a:pPr marL="0" lvl="0" indent="0" algn="ctr" defTabSz="2889249">
                <a:lnSpc>
                  <a:spcPct val="90000"/>
                </a:lnSpc>
                <a:spcBef>
                  <a:spcPts val="0"/>
                </a:spcBef>
                <a:spcAft>
                  <a:spcPts val="797"/>
                </a:spcAft>
                <a:buNone/>
                <a:defRPr/>
              </a:pPr>
              <a:r>
                <a:rPr lang="en-US" sz="1900" b="0" i="0" u="none" strike="noStrike" cap="none" spc="0">
                  <a:solidFill>
                    <a:schemeClr val="bg1"/>
                  </a:solidFill>
                  <a:latin typeface="Arial"/>
                  <a:ea typeface="Arial"/>
                  <a:cs typeface="Arial"/>
                </a:rPr>
                <a:t>SPIRV</a:t>
              </a:r>
              <a:endParaRPr sz="1900">
                <a:solidFill>
                  <a:schemeClr val="bg1"/>
                </a:solidFill>
              </a:endParaRPr>
            </a:p>
          </p:txBody>
        </p:sp>
        <p:sp modelId="{94EB4155-DA99-40B1-917E-5676F76BFF57}">
          <p:nvSpPr>
            <p:cNvPr id="1988035466" name=""/>
            <p:cNvSpPr/>
            <p:nvPr/>
          </p:nvSpPr>
          <p:spPr bwMode="auto">
            <a:xfrm rot="0" flipH="0" flipV="0">
              <a:off x="2880000" y="1080000"/>
              <a:ext cx="1382400" cy="1022400"/>
            </a:xfrm>
            <a:prstGeom prst="roundRect">
              <a:avLst>
                <a:gd name="adj" fmla="val 10000"/>
              </a:avLst>
            </a:prstGeom>
            <a:solidFill>
              <a:schemeClr val="accent1">
                <a:hueOff val="0"/>
                <a:satOff val="0"/>
                <a:lumOff val="0"/>
                <a:alphaOff val="0"/>
                <a:alpha val="99999"/>
              </a:schemeClr>
            </a:solidFill>
            <a:ln w="12699" cap="flat" cmpd="sng" algn="ctr">
              <a:noFill/>
              <a:prstDash val="solid"/>
              <a:miter lim="800000"/>
            </a:ln>
            <a:effectLst/>
          </p:spPr>
          <p:style>
            <a:lnRef idx="2">
              <a:srgbClr val="000000"/>
            </a:lnRef>
            <a:fillRef idx="1">
              <a:srgbClr val="000000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square" lIns="72389" tIns="72389" rIns="72389" bIns="72389" numCol="1" spcCol="1269" rtlCol="0" fromWordArt="0" anchor="ctr" anchorCtr="0" forceAA="0" upright="0" compatLnSpc="0">
              <a:noAutofit/>
            </a:bodyPr>
            <a:lstStyle/>
            <a:p>
              <a:pPr marL="0" lvl="0" indent="0" algn="ctr" defTabSz="2889249">
                <a:lnSpc>
                  <a:spcPct val="90000"/>
                </a:lnSpc>
                <a:spcBef>
                  <a:spcPts val="0"/>
                </a:spcBef>
                <a:spcAft>
                  <a:spcPts val="797"/>
                </a:spcAft>
                <a:buNone/>
                <a:defRPr/>
              </a:pPr>
              <a:r>
                <a:rPr lang="ru-RU" sz="1900" b="0" i="0" u="none" strike="noStrike" cap="none" spc="0">
                  <a:solidFill>
                    <a:schemeClr val="bg1"/>
                  </a:solidFill>
                  <a:latin typeface="Arial"/>
                  <a:ea typeface="Arial"/>
                  <a:cs typeface="Arial"/>
                </a:rPr>
                <a:t>NVPTX</a:t>
              </a:r>
              <a:endParaRPr sz="1900">
                <a:solidFill>
                  <a:schemeClr val="bg1"/>
                </a:solidFill>
              </a:endParaRPr>
            </a:p>
          </p:txBody>
        </p:sp>
        <p:sp modelId="{90A92363-83DE-4F3B-ADFE-1A378AE296C2}">
          <p:nvSpPr>
            <p:cNvPr id="202503061" name=""/>
            <p:cNvSpPr/>
            <p:nvPr/>
          </p:nvSpPr>
          <p:spPr bwMode="auto">
            <a:xfrm rot="0" flipH="0" flipV="0">
              <a:off x="2880000" y="0"/>
              <a:ext cx="2822400" cy="1022400"/>
            </a:xfrm>
            <a:prstGeom prst="roundRect">
              <a:avLst>
                <a:gd name="adj" fmla="val 10000"/>
              </a:avLst>
            </a:prstGeom>
            <a:solidFill>
              <a:schemeClr val="accent1">
                <a:hueOff val="0"/>
                <a:satOff val="0"/>
                <a:lumOff val="0"/>
                <a:alphaOff val="0"/>
                <a:alpha val="99999"/>
              </a:schemeClr>
            </a:solidFill>
            <a:ln w="12699" cap="flat" cmpd="sng" algn="ctr">
              <a:noFill/>
              <a:prstDash val="solid"/>
              <a:miter lim="800000"/>
            </a:ln>
            <a:effectLst/>
          </p:spPr>
          <p:style>
            <a:lnRef idx="2">
              <a:srgbClr val="000000"/>
            </a:lnRef>
            <a:fillRef idx="1">
              <a:srgbClr val="000000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square" lIns="72389" tIns="72389" rIns="72389" bIns="72389" numCol="1" spcCol="1269" rtlCol="0" fromWordArt="0" anchor="ctr" anchorCtr="0" forceAA="0" upright="0" compatLnSpc="0">
              <a:noAutofit/>
            </a:bodyPr>
            <a:lstStyle/>
            <a:p>
              <a:pPr marL="0" lvl="0" indent="0" algn="ctr" defTabSz="2889249">
                <a:lnSpc>
                  <a:spcPct val="90000"/>
                </a:lnSpc>
                <a:spcBef>
                  <a:spcPts val="0"/>
                </a:spcBef>
                <a:spcAft>
                  <a:spcPts val="797"/>
                </a:spcAft>
                <a:buNone/>
                <a:defRPr/>
              </a:pPr>
              <a:r>
                <a:rPr lang="ru-RU" sz="1900" b="0" i="0" u="none" strike="noStrike" cap="none" spc="0">
                  <a:solidFill>
                    <a:schemeClr val="bg1"/>
                  </a:solidFill>
                  <a:latin typeface="Arial"/>
                  <a:ea typeface="Arial"/>
                  <a:cs typeface="Arial"/>
                </a:rPr>
                <a:t>ARM</a:t>
              </a:r>
              <a:endParaRPr sz="1900">
                <a:solidFill>
                  <a:schemeClr val="bg1"/>
                </a:solidFill>
              </a:endParaRPr>
            </a:p>
          </p:txBody>
        </p:sp>
        <p:sp modelId="{C3D90946-1E3B-4149-A7DE-C4756B931921}">
          <p:nvSpPr>
            <p:cNvPr id="368621965" name=""/>
            <p:cNvSpPr/>
            <p:nvPr/>
          </p:nvSpPr>
          <p:spPr bwMode="auto">
            <a:xfrm rot="0" flipH="0" flipV="0">
              <a:off x="5759999" y="0"/>
              <a:ext cx="2822400" cy="1022400"/>
            </a:xfrm>
            <a:prstGeom prst="roundRect">
              <a:avLst>
                <a:gd name="adj" fmla="val 10000"/>
              </a:avLst>
            </a:prstGeom>
            <a:solidFill>
              <a:schemeClr val="accent1">
                <a:hueOff val="0"/>
                <a:satOff val="0"/>
                <a:lumOff val="0"/>
                <a:alphaOff val="0"/>
                <a:alpha val="99999"/>
              </a:schemeClr>
            </a:solidFill>
            <a:ln w="12699" cap="flat" cmpd="sng" algn="ctr">
              <a:noFill/>
              <a:prstDash val="solid"/>
              <a:miter lim="800000"/>
            </a:ln>
            <a:effectLst/>
          </p:spPr>
          <p:style>
            <a:lnRef idx="2">
              <a:srgbClr val="000000"/>
            </a:lnRef>
            <a:fillRef idx="1">
              <a:srgbClr val="000000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square" lIns="80010" tIns="80010" rIns="80010" bIns="80010" numCol="1" spcCol="1269" rtlCol="0" fromWordArt="0" anchor="ctr" anchorCtr="0" forceAA="0" upright="0" compatLnSpc="0">
              <a:noAutofit/>
            </a:bodyPr>
            <a:lstStyle/>
            <a:p>
              <a:pPr marL="0" lvl="0" indent="0" algn="ctr" defTabSz="2889249">
                <a:lnSpc>
                  <a:spcPct val="90000"/>
                </a:lnSpc>
                <a:spcBef>
                  <a:spcPts val="0"/>
                </a:spcBef>
                <a:spcAft>
                  <a:spcPts val="881"/>
                </a:spcAft>
                <a:buNone/>
                <a:defRPr/>
              </a:pPr>
              <a:r>
                <a:rPr lang="ru-RU" sz="2100" b="0" i="0" u="none" strike="noStrike" cap="none" spc="0">
                  <a:solidFill>
                    <a:schemeClr val="bg1"/>
                  </a:solidFill>
                  <a:latin typeface="Arial"/>
                  <a:ea typeface="Arial"/>
                  <a:cs typeface="Arial"/>
                </a:rPr>
                <a:t>Hexagon</a:t>
              </a:r>
              <a:endParaRPr sz="2100">
                <a:solidFill>
                  <a:schemeClr val="bg1"/>
                </a:solidFill>
              </a:endParaRPr>
            </a:p>
          </p:txBody>
        </p:sp>
        <p:sp modelId="{AA3EF135-D2D0-4A20-91C5-5177D5DEBDDA}">
          <p:nvSpPr>
            <p:cNvPr id="1621070820" name=""/>
            <p:cNvSpPr/>
            <p:nvPr/>
          </p:nvSpPr>
          <p:spPr bwMode="auto">
            <a:xfrm rot="0" flipH="0" flipV="0">
              <a:off x="4320000" y="1080000"/>
              <a:ext cx="2822400" cy="1022400"/>
            </a:xfrm>
            <a:prstGeom prst="roundRect">
              <a:avLst>
                <a:gd name="adj" fmla="val 10000"/>
              </a:avLst>
            </a:prstGeom>
            <a:solidFill>
              <a:schemeClr val="accent1">
                <a:hueOff val="0"/>
                <a:satOff val="0"/>
                <a:lumOff val="0"/>
                <a:alphaOff val="0"/>
                <a:alpha val="99999"/>
              </a:schemeClr>
            </a:solidFill>
            <a:ln w="12699" cap="flat" cmpd="sng" algn="ctr">
              <a:noFill/>
              <a:prstDash val="solid"/>
              <a:miter lim="800000"/>
            </a:ln>
            <a:effectLst/>
          </p:spPr>
          <p:style>
            <a:lnRef idx="2">
              <a:srgbClr val="000000"/>
            </a:lnRef>
            <a:fillRef idx="1">
              <a:srgbClr val="000000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square" lIns="80010" tIns="80010" rIns="80010" bIns="80010" numCol="1" spcCol="1269" rtlCol="0" fromWordArt="0" anchor="ctr" anchorCtr="0" forceAA="0" upright="0" compatLnSpc="0">
              <a:noAutofit/>
            </a:bodyPr>
            <a:lstStyle/>
            <a:p>
              <a:pPr marL="0" lvl="0" indent="0" algn="ctr" defTabSz="2889249">
                <a:lnSpc>
                  <a:spcPct val="90000"/>
                </a:lnSpc>
                <a:spcBef>
                  <a:spcPts val="0"/>
                </a:spcBef>
                <a:spcAft>
                  <a:spcPts val="881"/>
                </a:spcAft>
                <a:buNone/>
                <a:defRPr/>
              </a:pPr>
              <a:r>
                <a:rPr lang="ru-RU" sz="2100" b="0" i="0" u="none" strike="noStrike" cap="none" spc="0">
                  <a:solidFill>
                    <a:schemeClr val="bg1"/>
                  </a:solidFill>
                  <a:latin typeface="Arial"/>
                  <a:ea typeface="Arial"/>
                  <a:cs typeface="Arial"/>
                </a:rPr>
                <a:t>WebAssembly</a:t>
              </a:r>
              <a:endParaRPr sz="2100">
                <a:solidFill>
                  <a:schemeClr val="bg1"/>
                </a:solidFill>
              </a:endParaRPr>
            </a:p>
          </p:txBody>
        </p:sp>
        <p:sp modelId="{3AF79877-0D5B-4D71-BAE2-C4B2849407C5}">
          <p:nvSpPr>
            <p:cNvPr id="1014730715" name=""/>
            <p:cNvSpPr/>
            <p:nvPr/>
          </p:nvSpPr>
          <p:spPr bwMode="auto">
            <a:xfrm rot="0" flipH="0" flipV="0">
              <a:off x="4320000" y="2160000"/>
              <a:ext cx="1382400" cy="1022400"/>
            </a:xfrm>
            <a:prstGeom prst="roundRect">
              <a:avLst>
                <a:gd name="adj" fmla="val 10000"/>
              </a:avLst>
            </a:prstGeom>
            <a:solidFill>
              <a:schemeClr val="accent1">
                <a:hueOff val="0"/>
                <a:satOff val="0"/>
                <a:lumOff val="0"/>
                <a:alphaOff val="0"/>
                <a:alpha val="99999"/>
              </a:schemeClr>
            </a:solidFill>
            <a:ln w="12699" cap="flat" cmpd="sng" algn="ctr">
              <a:noFill/>
              <a:prstDash val="solid"/>
              <a:miter lim="800000"/>
            </a:ln>
            <a:effectLst/>
          </p:spPr>
          <p:style>
            <a:lnRef idx="2">
              <a:srgbClr val="000000"/>
            </a:lnRef>
            <a:fillRef idx="1">
              <a:srgbClr val="000000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square" lIns="80009" tIns="80009" rIns="80009" bIns="80009" numCol="1" spcCol="1269" rtlCol="0" fromWordArt="0" anchor="ctr" anchorCtr="0" forceAA="0" upright="0" compatLnSpc="0">
              <a:noAutofit/>
            </a:bodyPr>
            <a:lstStyle/>
            <a:p>
              <a:pPr marL="0" lvl="0" indent="0" algn="ctr" defTabSz="2889249">
                <a:lnSpc>
                  <a:spcPct val="90000"/>
                </a:lnSpc>
                <a:spcBef>
                  <a:spcPts val="0"/>
                </a:spcBef>
                <a:spcAft>
                  <a:spcPts val="881"/>
                </a:spcAft>
                <a:buNone/>
                <a:defRPr/>
              </a:pPr>
              <a:r>
                <a:rPr lang="ru-RU" sz="2100" b="0" i="0" u="none" strike="noStrike" cap="none" spc="0">
                  <a:solidFill>
                    <a:schemeClr val="bg1"/>
                  </a:solidFill>
                  <a:latin typeface="Arial"/>
                  <a:ea typeface="Arial"/>
                  <a:cs typeface="Arial"/>
                </a:rPr>
                <a:t>SystemZ</a:t>
              </a:r>
              <a:endParaRPr sz="2100">
                <a:solidFill>
                  <a:schemeClr val="bg1"/>
                </a:solidFill>
              </a:endParaRPr>
            </a:p>
          </p:txBody>
        </p:sp>
        <p:sp modelId="{55CA9F27-BD0A-4B2A-ABCC-71DEB4B2E40E}">
          <p:nvSpPr>
            <p:cNvPr id="1163734258" name=""/>
            <p:cNvSpPr/>
            <p:nvPr/>
          </p:nvSpPr>
          <p:spPr bwMode="auto">
            <a:xfrm rot="0" flipH="0" flipV="0">
              <a:off x="5759999" y="2160000"/>
              <a:ext cx="1382400" cy="1022400"/>
            </a:xfrm>
            <a:prstGeom prst="roundRect">
              <a:avLst>
                <a:gd name="adj" fmla="val 10000"/>
              </a:avLst>
            </a:prstGeom>
            <a:solidFill>
              <a:schemeClr val="accent1">
                <a:hueOff val="0"/>
                <a:satOff val="0"/>
                <a:lumOff val="0"/>
                <a:alphaOff val="0"/>
                <a:alpha val="99999"/>
              </a:schemeClr>
            </a:solidFill>
            <a:ln w="12699" cap="flat" cmpd="sng" algn="ctr">
              <a:noFill/>
              <a:prstDash val="solid"/>
              <a:miter lim="800000"/>
            </a:ln>
            <a:effectLst/>
          </p:spPr>
          <p:style>
            <a:lnRef idx="2">
              <a:srgbClr val="000000"/>
            </a:lnRef>
            <a:fillRef idx="1">
              <a:srgbClr val="000000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square" lIns="80009" tIns="80009" rIns="80009" bIns="80009" numCol="1" spcCol="1269" rtlCol="0" fromWordArt="0" anchor="ctr" anchorCtr="0" forceAA="0" upright="0" compatLnSpc="0">
              <a:noAutofit/>
            </a:bodyPr>
            <a:lstStyle/>
            <a:p>
              <a:pPr marL="0" lvl="0" indent="0" algn="ctr" defTabSz="2889249">
                <a:lnSpc>
                  <a:spcPct val="90000"/>
                </a:lnSpc>
                <a:spcBef>
                  <a:spcPts val="0"/>
                </a:spcBef>
                <a:spcAft>
                  <a:spcPts val="881"/>
                </a:spcAft>
                <a:buNone/>
                <a:defRPr/>
              </a:pPr>
              <a:r>
                <a:rPr lang="ru-RU" sz="2100" b="0" i="0" u="none" strike="noStrike" cap="none" spc="0">
                  <a:solidFill>
                    <a:schemeClr val="bg1"/>
                  </a:solidFill>
                  <a:latin typeface="Arial"/>
                  <a:ea typeface="Arial"/>
                  <a:cs typeface="Arial"/>
                </a:rPr>
                <a:t>VE</a:t>
              </a:r>
              <a:endParaRPr sz="2100">
                <a:solidFill>
                  <a:schemeClr val="bg1"/>
                </a:solidFill>
              </a:endParaRPr>
            </a:p>
          </p:txBody>
        </p:sp>
        <p:sp modelId="{DC8D0786-480B-4E14-82CE-753EEFA31C36}">
          <p:nvSpPr>
            <p:cNvPr id="1755855274" name=""/>
            <p:cNvSpPr/>
            <p:nvPr/>
          </p:nvSpPr>
          <p:spPr bwMode="auto">
            <a:xfrm rot="0" flipH="0" flipV="0">
              <a:off x="7199999" y="1080000"/>
              <a:ext cx="2822400" cy="1022400"/>
            </a:xfrm>
            <a:prstGeom prst="roundRect">
              <a:avLst>
                <a:gd name="adj" fmla="val 10000"/>
              </a:avLst>
            </a:prstGeom>
            <a:solidFill>
              <a:schemeClr val="accent1">
                <a:hueOff val="0"/>
                <a:satOff val="0"/>
                <a:lumOff val="0"/>
                <a:alphaOff val="0"/>
                <a:alpha val="99999"/>
              </a:schemeClr>
            </a:solidFill>
            <a:ln w="12699" cap="flat" cmpd="sng" algn="ctr">
              <a:noFill/>
              <a:prstDash val="solid"/>
              <a:miter lim="800000"/>
            </a:ln>
            <a:effectLst/>
          </p:spPr>
          <p:style>
            <a:lnRef idx="2">
              <a:srgbClr val="000000"/>
            </a:lnRef>
            <a:fillRef idx="1">
              <a:srgbClr val="000000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square" lIns="80010" tIns="80010" rIns="80010" bIns="80010" numCol="1" spcCol="1269" rtlCol="0" fromWordArt="0" anchor="ctr" anchorCtr="0" forceAA="0" upright="0" compatLnSpc="0">
              <a:noAutofit/>
            </a:bodyPr>
            <a:lstStyle/>
            <a:p>
              <a:pPr marL="0" lvl="0" indent="0" algn="ctr" defTabSz="2889249">
                <a:lnSpc>
                  <a:spcPct val="90000"/>
                </a:lnSpc>
                <a:spcBef>
                  <a:spcPts val="0"/>
                </a:spcBef>
                <a:spcAft>
                  <a:spcPts val="881"/>
                </a:spcAft>
                <a:buNone/>
                <a:defRPr/>
              </a:pPr>
              <a:r>
                <a:rPr lang="ru-RU" sz="2100" b="0" i="0" u="none" strike="noStrike" cap="none" spc="0">
                  <a:solidFill>
                    <a:schemeClr val="bg1"/>
                  </a:solidFill>
                  <a:latin typeface="Arial"/>
                  <a:ea typeface="Arial"/>
                  <a:cs typeface="Arial"/>
                </a:rPr>
                <a:t>RISCV</a:t>
              </a:r>
              <a:endParaRPr sz="2100">
                <a:solidFill>
                  <a:schemeClr val="bg1"/>
                </a:solidFill>
              </a:endParaRPr>
            </a:p>
          </p:txBody>
        </p:sp>
        <p:sp modelId="{CD876604-56BF-4FF7-89E7-DA53C7A16D91}">
          <p:nvSpPr>
            <p:cNvPr id="1027867906" name=""/>
            <p:cNvSpPr/>
            <p:nvPr/>
          </p:nvSpPr>
          <p:spPr bwMode="auto">
            <a:xfrm rot="0" flipH="0" flipV="0">
              <a:off x="7200000" y="2160000"/>
              <a:ext cx="1382400" cy="1022400"/>
            </a:xfrm>
            <a:prstGeom prst="roundRect">
              <a:avLst>
                <a:gd name="adj" fmla="val 10000"/>
              </a:avLst>
            </a:prstGeom>
            <a:solidFill>
              <a:schemeClr val="accent1">
                <a:hueOff val="0"/>
                <a:satOff val="0"/>
                <a:lumOff val="0"/>
                <a:alphaOff val="0"/>
                <a:alpha val="99999"/>
              </a:schemeClr>
            </a:solidFill>
            <a:ln w="12699" cap="flat" cmpd="sng" algn="ctr">
              <a:noFill/>
              <a:prstDash val="solid"/>
              <a:miter lim="800000"/>
            </a:ln>
            <a:effectLst/>
          </p:spPr>
          <p:style>
            <a:lnRef idx="2">
              <a:srgbClr val="000000"/>
            </a:lnRef>
            <a:fillRef idx="1">
              <a:srgbClr val="000000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square" lIns="80009" tIns="80009" rIns="80009" bIns="80009" numCol="1" spcCol="1269" rtlCol="0" fromWordArt="0" anchor="ctr" anchorCtr="0" forceAA="0" upright="0" compatLnSpc="0">
              <a:noAutofit/>
            </a:bodyPr>
            <a:lstStyle/>
            <a:p>
              <a:pPr marL="0" lvl="0" indent="0" algn="ctr" defTabSz="2889249">
                <a:lnSpc>
                  <a:spcPct val="90000"/>
                </a:lnSpc>
                <a:spcBef>
                  <a:spcPts val="0"/>
                </a:spcBef>
                <a:spcAft>
                  <a:spcPts val="881"/>
                </a:spcAft>
                <a:buNone/>
                <a:defRPr/>
              </a:pPr>
              <a:r>
                <a:rPr lang="ru-RU" sz="2100" b="0" i="0" u="none" strike="noStrike" cap="none" spc="0">
                  <a:solidFill>
                    <a:schemeClr val="bg1"/>
                  </a:solidFill>
                  <a:latin typeface="Arial"/>
                  <a:ea typeface="Arial"/>
                  <a:cs typeface="Arial"/>
                </a:rPr>
                <a:t>X86</a:t>
              </a:r>
              <a:endParaRPr sz="2100">
                <a:solidFill>
                  <a:schemeClr val="bg1"/>
                </a:solidFill>
              </a:endParaRPr>
            </a:p>
          </p:txBody>
        </p:sp>
        <p:sp modelId="{E040BF82-84FA-4ECE-A536-4DE51C1B2181}">
          <p:nvSpPr>
            <p:cNvPr id="1901523281" name=""/>
            <p:cNvSpPr/>
            <p:nvPr/>
          </p:nvSpPr>
          <p:spPr bwMode="auto">
            <a:xfrm rot="0" flipH="0" flipV="0">
              <a:off x="0" y="2160000"/>
              <a:ext cx="1382400" cy="1022400"/>
            </a:xfrm>
            <a:prstGeom prst="roundRect">
              <a:avLst>
                <a:gd name="adj" fmla="val 10000"/>
              </a:avLst>
            </a:prstGeom>
            <a:solidFill>
              <a:schemeClr val="accent1">
                <a:hueOff val="0"/>
                <a:satOff val="0"/>
                <a:lumOff val="0"/>
                <a:alphaOff val="0"/>
                <a:alpha val="99999"/>
              </a:schemeClr>
            </a:solidFill>
            <a:ln w="12699" cap="flat" cmpd="sng" algn="ctr">
              <a:noFill/>
              <a:prstDash val="solid"/>
              <a:miter lim="800000"/>
            </a:ln>
            <a:effectLst/>
          </p:spPr>
          <p:style>
            <a:lnRef idx="2">
              <a:srgbClr val="000000"/>
            </a:lnRef>
            <a:fillRef idx="1">
              <a:srgbClr val="000000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square" lIns="72389" tIns="72389" rIns="72389" bIns="72389" numCol="1" spcCol="1269" rtlCol="0" fromWordArt="0" anchor="ctr" anchorCtr="0" forceAA="0" upright="0" compatLnSpc="0">
              <a:noAutofit/>
            </a:bodyPr>
            <a:lstStyle/>
            <a:p>
              <a:pPr marL="0" lvl="0" indent="0" algn="ctr" defTabSz="2889249">
                <a:lnSpc>
                  <a:spcPct val="90000"/>
                </a:lnSpc>
                <a:spcBef>
                  <a:spcPts val="0"/>
                </a:spcBef>
                <a:spcAft>
                  <a:spcPts val="796"/>
                </a:spcAft>
                <a:buNone/>
                <a:defRPr/>
              </a:pPr>
              <a:r>
                <a:rPr lang="ru-RU" sz="1900" b="0" i="0" u="none" strike="noStrike" cap="none" spc="0">
                  <a:solidFill>
                    <a:schemeClr val="bg1"/>
                  </a:solidFill>
                  <a:latin typeface="Arial"/>
                  <a:ea typeface="Arial"/>
                  <a:cs typeface="Arial"/>
                </a:rPr>
                <a:t>Spark</a:t>
              </a:r>
              <a:endParaRPr sz="1900">
                <a:solidFill>
                  <a:schemeClr val="bg1"/>
                </a:solidFill>
              </a:endParaRPr>
            </a:p>
          </p:txBody>
        </p:sp>
        <p:sp modelId="{CD876604-56BF-4FF7-89E7-DA53C7A16D91}">
          <p:nvSpPr>
            <p:cNvPr id="664269012" name=""/>
            <p:cNvSpPr/>
            <p:nvPr/>
          </p:nvSpPr>
          <p:spPr bwMode="auto">
            <a:xfrm rot="0" flipH="0" flipV="0">
              <a:off x="8640000" y="2160000"/>
              <a:ext cx="1382400" cy="1022400"/>
            </a:xfrm>
            <a:prstGeom prst="roundRect">
              <a:avLst>
                <a:gd name="adj" fmla="val 10000"/>
              </a:avLst>
            </a:prstGeom>
            <a:solidFill>
              <a:schemeClr val="accent1">
                <a:hueOff val="0"/>
                <a:satOff val="0"/>
                <a:lumOff val="0"/>
                <a:alphaOff val="0"/>
                <a:alpha val="99999"/>
              </a:schemeClr>
            </a:solidFill>
            <a:ln w="12699" cap="flat" cmpd="sng" algn="ctr">
              <a:noFill/>
              <a:prstDash val="solid"/>
              <a:miter lim="800000"/>
            </a:ln>
            <a:effectLst/>
          </p:spPr>
          <p:style>
            <a:lnRef idx="2">
              <a:srgbClr val="000000"/>
            </a:lnRef>
            <a:fillRef idx="1">
              <a:srgbClr val="000000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square" lIns="80008" tIns="80008" rIns="80008" bIns="80008" numCol="1" spcCol="1269" rtlCol="0" fromWordArt="0" anchor="ctr" anchorCtr="0" forceAA="0" upright="0" compatLnSpc="0">
              <a:noAutofit/>
            </a:bodyPr>
            <a:lstStyle/>
            <a:p>
              <a:pPr marL="0" lvl="0" indent="0" algn="ctr" defTabSz="2889249">
                <a:lnSpc>
                  <a:spcPct val="90000"/>
                </a:lnSpc>
                <a:spcBef>
                  <a:spcPts val="0"/>
                </a:spcBef>
                <a:spcAft>
                  <a:spcPts val="880"/>
                </a:spcAft>
                <a:buNone/>
                <a:defRPr/>
              </a:pPr>
              <a:r>
                <a:rPr lang="ru-RU" sz="2100" b="0" i="0" u="none" strike="noStrike" cap="none" spc="0">
                  <a:solidFill>
                    <a:schemeClr val="bg1"/>
                  </a:solidFill>
                  <a:latin typeface="Arial"/>
                  <a:ea typeface="Arial"/>
                  <a:cs typeface="Arial"/>
                </a:rPr>
                <a:t>Xtensa</a:t>
              </a:r>
              <a:endParaRPr sz="2100">
                <a:solidFill>
                  <a:schemeClr val="bg1"/>
                </a:solidFill>
              </a:endParaRPr>
            </a:p>
          </p:txBody>
        </p:sp>
        <p:sp modelId="{CD876604-56BF-4FF7-89E7-DA53C7A16D91}">
          <p:nvSpPr>
            <p:cNvPr id="193912846" name=""/>
            <p:cNvSpPr/>
            <p:nvPr/>
          </p:nvSpPr>
          <p:spPr bwMode="auto">
            <a:xfrm rot="0" flipH="0" flipV="0">
              <a:off x="8639999" y="0"/>
              <a:ext cx="1382400" cy="1022400"/>
            </a:xfrm>
            <a:prstGeom prst="roundRect">
              <a:avLst>
                <a:gd name="adj" fmla="val 10000"/>
              </a:avLst>
            </a:prstGeom>
            <a:solidFill>
              <a:schemeClr val="accent1">
                <a:hueOff val="0"/>
                <a:satOff val="0"/>
                <a:lumOff val="0"/>
                <a:alphaOff val="0"/>
                <a:alpha val="99999"/>
              </a:schemeClr>
            </a:solidFill>
            <a:ln w="12699" cap="flat" cmpd="sng" algn="ctr">
              <a:noFill/>
              <a:prstDash val="solid"/>
              <a:miter lim="800000"/>
            </a:ln>
            <a:effectLst/>
          </p:spPr>
          <p:style>
            <a:lnRef idx="2">
              <a:srgbClr val="000000"/>
            </a:lnRef>
            <a:fillRef idx="1">
              <a:srgbClr val="000000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square" lIns="80008" tIns="80008" rIns="80008" bIns="80008" numCol="1" spcCol="1269" rtlCol="0" fromWordArt="0" anchor="ctr" anchorCtr="0" forceAA="0" upright="0" compatLnSpc="0">
              <a:noAutofit/>
            </a:bodyPr>
            <a:lstStyle/>
            <a:p>
              <a:pPr marL="0" lvl="0" indent="0" algn="ctr" defTabSz="2889249">
                <a:lnSpc>
                  <a:spcPct val="90000"/>
                </a:lnSpc>
                <a:spcBef>
                  <a:spcPts val="0"/>
                </a:spcBef>
                <a:spcAft>
                  <a:spcPts val="880"/>
                </a:spcAft>
                <a:buNone/>
                <a:defRPr/>
              </a:pPr>
              <a:r>
                <a:rPr lang="ru-RU" sz="2100" b="0" i="0" u="none" strike="noStrike" cap="none" spc="0">
                  <a:solidFill>
                    <a:schemeClr val="bg1"/>
                  </a:solidFill>
                  <a:latin typeface="Arial"/>
                  <a:ea typeface="Arial"/>
                  <a:cs typeface="Arial"/>
                </a:rPr>
                <a:t>Mips</a:t>
              </a:r>
              <a:endParaRPr sz="210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F3864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2617437" name="Прямоугольник 745972733"/>
          <p:cNvSpPr/>
          <p:nvPr/>
        </p:nvSpPr>
        <p:spPr bwMode="auto">
          <a:xfrm>
            <a:off x="430247" y="1313998"/>
            <a:ext cx="11247436" cy="2346201"/>
          </a:xfrm>
          <a:prstGeom prst="rect">
            <a:avLst/>
          </a:prstGeom>
          <a:solidFill>
            <a:srgbClr val="020F28">
              <a:alpha val="13999"/>
            </a:srgbClr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216000" tIns="45720" rIns="91440" bIns="45720" numCol="1" spcCol="0" rtlCol="0" fromWordArt="0" anchor="ctr" anchorCtr="0" forceAA="0" compatLnSpc="0"/>
          <a:lstStyle/>
          <a:p>
            <a:pPr algn="ctr">
              <a:defRPr/>
            </a:pPr>
            <a:r>
              <a:rPr lang="ru-RU" sz="4800" b="1" i="0" u="none" strike="noStrike" cap="none" spc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Спасибо! Вопросы</a:t>
            </a:r>
            <a:r>
              <a:rPr lang="en-US" sz="4800" b="1" i="0" u="none" strike="noStrike" cap="none" spc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?</a:t>
            </a:r>
            <a:endParaRPr sz="4800">
              <a:latin typeface="Open Sans"/>
              <a:cs typeface="Open Sans"/>
            </a:endParaRPr>
          </a:p>
        </p:txBody>
      </p:sp>
      <p:pic>
        <p:nvPicPr>
          <p:cNvPr id="5778669" name="Рисунок 1802203683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-7011" y="49299"/>
            <a:ext cx="4964950" cy="952020"/>
          </a:xfrm>
          <a:prstGeom prst="rect">
            <a:avLst/>
          </a:prstGeom>
        </p:spPr>
      </p:pic>
      <p:pic>
        <p:nvPicPr>
          <p:cNvPr id="2063122415" name="Рисунок 1146636237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1663196" y="191818"/>
            <a:ext cx="1405647" cy="421692"/>
          </a:xfrm>
          <a:prstGeom prst="rect">
            <a:avLst/>
          </a:prstGeom>
        </p:spPr>
      </p:pic>
      <p:pic>
        <p:nvPicPr>
          <p:cNvPr id="1055207953" name="Рисунок 619676707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311801" y="191818"/>
            <a:ext cx="1039196" cy="484845"/>
          </a:xfrm>
          <a:prstGeom prst="rect">
            <a:avLst/>
          </a:prstGeom>
        </p:spPr>
      </p:pic>
      <p:sp>
        <p:nvSpPr>
          <p:cNvPr id="913079865" name="Прямоугольник 13"/>
          <p:cNvSpPr/>
          <p:nvPr/>
        </p:nvSpPr>
        <p:spPr bwMode="auto">
          <a:xfrm>
            <a:off x="365256" y="3915842"/>
            <a:ext cx="11462924" cy="2164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400" b="1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Кулик Павел Евгеньевич</a:t>
            </a:r>
            <a:endParaRPr sz="100">
              <a:solidFill>
                <a:schemeClr val="bg1"/>
              </a:solidFill>
              <a:latin typeface="Open Sans"/>
              <a:cs typeface="Open Sans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600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студент </a:t>
            </a:r>
            <a:r>
              <a:rPr lang="en-US" sz="1600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4</a:t>
            </a:r>
            <a:r>
              <a:rPr lang="ru-RU" sz="1600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 курса</a:t>
            </a:r>
            <a:endParaRPr/>
          </a:p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600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 </a:t>
            </a:r>
            <a:endParaRPr/>
          </a:p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600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Институт информатики и вычислительной техники</a:t>
            </a:r>
            <a:br>
              <a:rPr lang="ru-RU" sz="1600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</a:br>
            <a:r>
              <a:rPr lang="ru-RU" sz="1600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Сибирский государственный университет телекоммуникаций и информатики</a:t>
            </a:r>
            <a:endParaRPr>
              <a:solidFill>
                <a:schemeClr val="bg1"/>
              </a:solidFill>
              <a:latin typeface="Open Sans"/>
              <a:cs typeface="Open Sans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pashakulik58@gmail.com</a:t>
            </a:r>
            <a:endParaRPr sz="1400">
              <a:solidFill>
                <a:schemeClr val="bg1"/>
              </a:solidFill>
              <a:latin typeface="Open Sans"/>
              <a:cs typeface="Open Sans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600">
              <a:solidFill>
                <a:schemeClr val="bg1"/>
              </a:solidFill>
              <a:latin typeface="Open Sans"/>
              <a:cs typeface="Open Sans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600" b="0" i="0" u="none" strike="noStrike" cap="none" spc="0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Научный руководитель — д.т.н. профессор Курносов М.Г.</a:t>
            </a:r>
            <a:endParaRPr sz="1600">
              <a:solidFill>
                <a:schemeClr val="bg1"/>
              </a:solidFill>
              <a:latin typeface="Open Sans"/>
              <a:cs typeface="Open Sans"/>
            </a:endParaRPr>
          </a:p>
        </p:txBody>
      </p:sp>
      <p:sp>
        <p:nvSpPr>
          <p:cNvPr id="54353277" name="Прямоугольник 15"/>
          <p:cNvSpPr/>
          <p:nvPr/>
        </p:nvSpPr>
        <p:spPr bwMode="auto">
          <a:xfrm>
            <a:off x="173592" y="6363406"/>
            <a:ext cx="11839250" cy="6709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000" b="0" i="0" u="none" strike="noStrike" cap="none" spc="0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Региональная научно-практическая конференция для магистрантов и аспирантов «Шаг в науку - 2025»</a:t>
            </a:r>
            <a:endParaRPr sz="1000" b="0" i="0" u="none" strike="noStrike" cap="none" spc="0">
              <a:solidFill>
                <a:schemeClr val="bg1"/>
              </a:solidFill>
              <a:latin typeface="Open Sans"/>
              <a:ea typeface="Open Sans"/>
              <a:cs typeface="Open Sans"/>
            </a:endParaRPr>
          </a:p>
          <a:p>
            <a:pPr algn="ctr">
              <a:defRPr/>
            </a:pPr>
            <a:r>
              <a:rPr lang="ru-RU" sz="1000" b="0" i="0" u="none" strike="noStrike" cap="none" spc="0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Новосибирск, СибГУТИ, 20 ноября 2025</a:t>
            </a:r>
            <a:endParaRPr sz="1000" b="0" i="0" u="none" strike="noStrike" cap="none" spc="0">
              <a:solidFill>
                <a:schemeClr val="bg1"/>
              </a:solidFill>
              <a:latin typeface="Open Sans"/>
              <a:cs typeface="Open San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ONLYOFFICE/9.1.0.173</Application>
  <PresentationFormat>On-screen Show (4:3)</PresentationFormat>
  <Paragraphs>0</Paragraphs>
  <Slides>4</Slides>
  <Notes>4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Theme 1</vt:lpstr>
      <vt:lpstr>Slide 1</vt:lpstr>
      <vt:lpstr>Slide 2</vt:lpstr>
      <vt:lpstr>Slide 3</vt:lpstr>
      <vt:lpstr>Slide 4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pavel kulik</dc:creator>
  <cp:lastModifiedBy/>
  <cp:revision>10</cp:revision>
  <dcterms:modified xsi:type="dcterms:W3CDTF">2025-11-17T16:06:16Z</dcterms:modified>
</cp:coreProperties>
</file>