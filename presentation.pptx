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43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9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notesSlides/notesSlide28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28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2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notesSlides/notesSlide49.xml" ContentType="application/vnd.openxmlformats-officedocument.presentationml.notesSlide+xml"/>
  <Override PartName="/ppt/slides/slide20.xml" ContentType="application/vnd.openxmlformats-officedocument.presentationml.slide+xml"/>
  <Override PartName="/ppt/slides/slide47.xml" ContentType="application/vnd.openxmlformats-officedocument.presentationml.slide+xml"/>
  <Override PartName="/ppt/slideLayouts/slideLayout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32.xml" ContentType="application/vnd.openxmlformats-officedocument.presentationml.slide+xml"/>
  <Override PartName="/ppt/slides/slide8.xml" ContentType="application/vnd.openxmlformats-officedocument.presentationml.slide+xml"/>
  <Override PartName="/ppt/notesSlides/notesSlide37.xml" ContentType="application/vnd.openxmlformats-officedocument.presentationml.notesSlide+xml"/>
  <Override PartName="/ppt/notesSlides/notesSlide7.xml" ContentType="application/vnd.openxmlformats-officedocument.presentationml.notesSlide+xml"/>
  <Override PartName="/ppt/viewProps.xml" ContentType="application/vnd.openxmlformats-officedocument.presentationml.viewProps+xml"/>
  <Override PartName="/ppt/slides/slide17.xml" ContentType="application/vnd.openxmlformats-officedocument.presentationml.sl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slides/slide7.xml" ContentType="application/vnd.openxmlformats-officedocument.presentationml.slide+xml"/>
  <Override PartName="/ppt/slides/slide41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27.xml" ContentType="application/vnd.openxmlformats-officedocument.presentationml.notesSlide+xml"/>
  <Override PartName="/ppt/presProps.xml" ContentType="application/vnd.openxmlformats-officedocument.presentationml.presProps+xml"/>
  <Override PartName="/ppt/slides/slide21.xml" ContentType="application/vnd.openxmlformats-officedocument.presentationml.slide+xml"/>
  <Override PartName="/ppt/notesSlides/notesSlide20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2.xml" ContentType="application/vnd.openxmlformats-officedocument.presentationml.notes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notesSlides/notesSlide15.xml" ContentType="application/vnd.openxmlformats-officedocument.presentationml.notesSlide+xml"/>
  <Override PartName="/ppt/slides/slide13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5.xml" ContentType="application/vnd.openxmlformats-officedocument.presentationml.slide+xml"/>
  <Override PartName="/ppt/notesSlides/notesSlide4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1.xml" ContentType="application/vnd.openxmlformats-officedocument.presentationml.notesSlide+xml"/>
  <Override PartName="/ppt/slideLayouts/slideLayout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26.xml" ContentType="application/vnd.openxmlformats-officedocument.presentationml.slide+xml"/>
  <Override PartName="/ppt/theme/theme2.xml" ContentType="application/vnd.openxmlformats-officedocument.them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3.xml" ContentType="application/vnd.openxmlformats-officedocument.presentationml.slide+xml"/>
  <Override PartName="/ppt/slides/slide24.xml" ContentType="application/vnd.openxmlformats-officedocument.presentationml.slide+xml"/>
  <Override PartName="/ppt/slides/slide40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3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presentation.xml" ContentType="application/vnd.openxmlformats-officedocument.presentationml.presentation.main+xml"/>
  <Override PartName="/ppt/slides/slide42.xml" ContentType="application/vnd.openxmlformats-officedocument.presentationml.slide+xml"/>
  <Override PartName="/ppt/slides/slide44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5.xml" ContentType="application/vnd.openxmlformats-officedocument.presentationml.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4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</p:sldIdLst>
  <p:sldSz cx="12192000" cy="6858000"/>
  <p:notesSz cx="6858000" cy="9144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6" d="100"/>
          <a:sy n="106" d="100"/>
        </p:scale>
        <p:origin x="756" y="96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 /><Relationship Id="rId55" Type="http://schemas.openxmlformats.org/officeDocument/2006/relationships/tableStyles" Target="tableStyles.xml" /><Relationship Id="rId5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110783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32301103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ru-RU"/>
              <a:t>14.06.2025</a:t>
            </a:fld>
            <a:endParaRPr lang="ru-RU"/>
          </a:p>
        </p:txBody>
      </p:sp>
      <p:sp>
        <p:nvSpPr>
          <p:cNvPr id="500308995" name="Рисунок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1630885899" name="Заметка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914371750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338827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 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 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 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 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 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 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 ?>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 ?>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 ?>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 ?>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 ?>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 ?>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 ?>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 ?>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 ?>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 ?>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 ?>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 ?>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 ?>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699017" name="Google Shape;204;p1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2" tIns="91422" rIns="91422" bIns="91422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57870573" name="Google Shape;20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452341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6585273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268787099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ru-RU"/>
              <a:t>2</a:t>
            </a:fld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5022141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0520200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96824979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00436B-8833-6612-42E0-D724A6CBCCF1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633312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0610714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099069129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11B5565-C917-03B7-2C1A-31079EE0A953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544490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794480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413290344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FC3531-BADA-8782-88EF-4074BD5FA7D7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0397899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3232266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495003315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CE0081-F16F-0596-7393-DF9B26A9B2EC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4831919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7761205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881236311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4251B6-7350-08F8-C4F7-149EFA7A68E8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5437061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7777036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37493752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6F951AA-ABFA-1782-7583-587CE45B7E39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891022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10610596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371751531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C372F98-60BC-F7D6-AC5C-6CF06BD41D82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102919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7319905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2091746246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01668E-3963-5025-461C-CF040AAEAC73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4036196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4071547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64327120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A6A72D2-405C-9A33-CC78-9AD40301D52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5421148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17927513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916761420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3CFA0D-B529-3A19-9EF0-0F9536BE01B1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7903588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39883373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970813775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BD7584-6BBF-8108-767E-A4753698130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4429237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7311652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669006680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EADD0E3-18E7-A1AA-1D3D-C62AC645D239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4420108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0203612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298008143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C7E6E9-FFD7-13D2-3954-73520FD7A4AE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135870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2285839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702968705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3D5672-13A0-54F5-B74C-F8C84EFC4B4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65070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6826750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889697478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AC6997A-DC98-97A5-F98A-E4EC4D17EB38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2694761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064875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643513009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B98D36B-613C-197F-CF6F-8AA658057F53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547761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1863897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265375660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8386AF-1B1F-1965-80ED-3FF3712D0DAA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4529820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893395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49265992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15C356B-ECE6-AAE9-5A06-448498DFEAF7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7244442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5106340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765457966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3C9433-2C85-1D69-B3C7-2DDD49F5088C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484243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9261720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2006226114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0C274C-C9ED-A68F-1F5E-2FC52298721A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0303562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1466886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747653850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195E32-3A26-034D-480F-798D23A46E22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1587089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7984824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929801973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8A2D4-5483-DECE-898D-6FA79432F0B2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092973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0884269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508099279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81A85A-7534-7F2B-71CF-EC0E7323D632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535045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54973985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435873064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92D558-20B4-250D-290B-1A38428489C3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375258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2867567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83068220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0359AA-36E9-927E-F433-A261E7B6139D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851122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0762053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766649374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C9D2E6-77C4-2E41-556D-1424661CF68C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578399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8457841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20288855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DADB5-3453-AD4F-8004-316FB66F1B9F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9534398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2534589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2104288168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78171D2-BC91-6BDF-851D-6FDB455DAB9A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444514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53292805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407033222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CE31A1-5E4F-614D-CC64-C68675932B2F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555712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97269982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821257338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88D6A0-9BC8-2CBD-E993-86E89A4CE244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972692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7049343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315638603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DFBA70-E275-08CF-1219-4AF6507C7EDC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3410677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1389998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796322020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30C16B-C1AA-42DA-7DF5-EADE0BE578A1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704227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6580838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975217630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FA5D9C-EB88-A552-C7AE-C2A66CEB09F2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7098653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9085952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027545265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868890-AB95-9CD9-0B4B-B78299EF2C4E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0100654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9780310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783691856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328B31E-D527-CB9A-6FD6-A2135AD8B49A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674796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982683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302545710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015F58-035F-777B-02DD-5FA8A8E6F074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7355662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31956406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848798180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CD1B727-A1CA-7F0C-623E-87A30026E33A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299773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2176785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655791004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64871D9-14E6-AEA8-A4D7-899C06DF0BD2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219735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8720447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577383751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1C6DEB-E8B6-DF3F-5F3C-7B0393C1DEBB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56682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38984059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582942693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EE55E-F4A4-28DD-714B-E8757CEDB58B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1787735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0851154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277350089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3366F7-1947-577E-9D7F-B2EE1A09303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480201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5913731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459453787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AD84CAF-09C3-379C-EF83-5A2E6AE786B8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1620585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7792909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90147535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305BB5-E410-3494-4868-AE7B687620CF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0277545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4971113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977992528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FDF6CC-573E-F56E-8162-45F53106A51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462254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9888088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802468640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D66C51-386B-B511-417B-E717D981CF9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669093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36954135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530930989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9E248BC-B9DA-0EFB-A488-CA093635D48F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0989631" name="Google Shape;204;p1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2" tIns="91422" rIns="91422" bIns="91422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67433701" name="Google Shape;20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511124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4022286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1043774021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1609614778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6901633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18612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35496870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87461987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1466540556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19989942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7389413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19373362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41353862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720447177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7508725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3200756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86744959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11025220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912035951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1837100403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90292123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993393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71350599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10903349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30049060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8380034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8177978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885189399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34094351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332824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84562307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1990548590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39764476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3817773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811563137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03768168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166185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322782990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9491079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13978520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186726914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62292650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0007190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84589766" name="Рисунок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Нажмите, чтобы добавить изображение</a:t>
            </a:r>
            <a:endParaRPr/>
          </a:p>
        </p:txBody>
      </p:sp>
      <p:sp>
        <p:nvSpPr>
          <p:cNvPr id="1593809337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2509343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604279320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56669582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650874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57525377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2937108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659963354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56445748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627399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68788724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938026725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1946189959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886918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9076139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24249184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4074069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ru-RU"/>
              <a:t>14.06.2025</a:t>
            </a:fld>
            <a:endParaRPr lang="ru-RU"/>
          </a:p>
        </p:txBody>
      </p:sp>
      <p:sp>
        <p:nvSpPr>
          <p:cNvPr id="15618714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1965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media1.svg"/><Relationship Id="rId6" Type="http://schemas.openxmlformats.org/officeDocument/2006/relationships/image" Target="../media/image3.png"/><Relationship Id="rId7" Type="http://schemas.openxmlformats.org/officeDocument/2006/relationships/image" Target="../media/media2.sv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6.png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.png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F386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126486" name="Прямоугольник 1424465501"/>
          <p:cNvSpPr/>
          <p:nvPr/>
        </p:nvSpPr>
        <p:spPr bwMode="auto">
          <a:xfrm>
            <a:off x="430249" y="1313998"/>
            <a:ext cx="11247436" cy="2346201"/>
          </a:xfrm>
          <a:prstGeom prst="rect">
            <a:avLst/>
          </a:prstGeom>
          <a:solidFill>
            <a:srgbClr val="020F28">
              <a:alpha val="13999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216000" tIns="45720" rIns="91440" bIns="45720" numCol="1" spcCol="0" rtlCol="0" fromWordArt="0" anchor="ctr" anchorCtr="0" forceAA="0" compatLnSpc="0"/>
          <a:lstStyle/>
          <a:p>
            <a:pPr algn="l">
              <a:defRPr/>
            </a:pPr>
            <a:r>
              <a:rPr lang="ru-RU" sz="4000" b="1" i="0" u="none" strike="noStrike" cap="none" spc="0">
                <a:solidFill>
                  <a:schemeClr val="lt1"/>
                </a:solidFill>
                <a:latin typeface="Open Sans"/>
                <a:ea typeface="Open Sans"/>
                <a:cs typeface="Open Sans"/>
              </a:rPr>
              <a:t>Векторизация в LLVM одного класса циклов методом их расщепления</a:t>
            </a:r>
            <a:endParaRPr sz="4000">
              <a:latin typeface="Open Sans"/>
              <a:cs typeface="Open Sans"/>
            </a:endParaRPr>
          </a:p>
        </p:txBody>
      </p:sp>
      <p:pic>
        <p:nvPicPr>
          <p:cNvPr id="1570582589" name="Рисунок 70984039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-7011" y="49299"/>
            <a:ext cx="4964950" cy="952020"/>
          </a:xfrm>
          <a:prstGeom prst="rect">
            <a:avLst/>
          </a:prstGeom>
        </p:spPr>
      </p:pic>
      <p:pic>
        <p:nvPicPr>
          <p:cNvPr id="617577145" name="Рисунок 827580458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 bwMode="auto">
          <a:xfrm>
            <a:off x="1663196" y="191818"/>
            <a:ext cx="1405647" cy="421692"/>
          </a:xfrm>
          <a:prstGeom prst="rect">
            <a:avLst/>
          </a:prstGeom>
        </p:spPr>
      </p:pic>
      <p:pic>
        <p:nvPicPr>
          <p:cNvPr id="1474237304" name="Рисунок 2056434285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 bwMode="auto">
          <a:xfrm>
            <a:off x="311801" y="191818"/>
            <a:ext cx="1039196" cy="484845"/>
          </a:xfrm>
          <a:prstGeom prst="rect">
            <a:avLst/>
          </a:prstGeom>
        </p:spPr>
      </p:pic>
      <p:sp>
        <p:nvSpPr>
          <p:cNvPr id="1413686239" name="Прямоугольник 13"/>
          <p:cNvSpPr/>
          <p:nvPr/>
        </p:nvSpPr>
        <p:spPr bwMode="auto">
          <a:xfrm>
            <a:off x="365256" y="3915842"/>
            <a:ext cx="11462924" cy="21339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400" b="1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Кулик Павел Евгеньевич</a:t>
            </a:r>
            <a:endParaRPr sz="100">
              <a:solidFill>
                <a:schemeClr val="bg1"/>
              </a:solidFill>
              <a:latin typeface="Open Sans"/>
              <a:cs typeface="Open San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студент </a:t>
            </a:r>
            <a:r>
              <a:rPr lang="en-US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4</a:t>
            </a:r>
            <a: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 курса</a:t>
            </a:r>
            <a:endParaRPr/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lang="ru-RU" sz="1600">
              <a:solidFill>
                <a:schemeClr val="bg1"/>
              </a:solidFill>
              <a:latin typeface="Open Sans"/>
              <a:ea typeface="Open Sans"/>
              <a:cs typeface="Open San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Институт информатики и вычислительной техники</a:t>
            </a:r>
            <a:b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</a:br>
            <a: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Сибирский государственный университет телекоммуникаций и информатики</a:t>
            </a:r>
            <a:endParaRPr>
              <a:solidFill>
                <a:schemeClr val="bg1"/>
              </a:solidFill>
              <a:latin typeface="Open Sans"/>
              <a:cs typeface="Open San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b="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pashakulik58@gmail.com</a:t>
            </a:r>
            <a:endParaRPr sz="1400">
              <a:solidFill>
                <a:schemeClr val="bg1"/>
              </a:solidFill>
              <a:latin typeface="Open Sans"/>
              <a:cs typeface="Open San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600">
              <a:solidFill>
                <a:schemeClr val="bg1"/>
              </a:solidFill>
              <a:latin typeface="Open Sans"/>
              <a:cs typeface="Open San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Научный руководитель — д.т.н. профессор Курносов М.Г.</a:t>
            </a:r>
            <a:endParaRPr sz="1600">
              <a:solidFill>
                <a:schemeClr val="bg1"/>
              </a:solidFill>
              <a:latin typeface="Open Sans"/>
              <a:cs typeface="Open Sans"/>
            </a:endParaRPr>
          </a:p>
        </p:txBody>
      </p:sp>
      <p:sp>
        <p:nvSpPr>
          <p:cNvPr id="1818086505" name="Прямоугольник 15"/>
          <p:cNvSpPr/>
          <p:nvPr/>
        </p:nvSpPr>
        <p:spPr bwMode="auto">
          <a:xfrm>
            <a:off x="173592" y="6363405"/>
            <a:ext cx="11857970" cy="396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000" b="0" i="0" u="none" strike="noStrike" cap="none" spc="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Региональная научно-практическая конференция для магистрантов и аспирантов «Шаг в науку - 2025»</a:t>
            </a:r>
            <a:endParaRPr lang="en-US" sz="1000" b="0" i="0" u="none" strike="noStrike" cap="none" spc="0">
              <a:solidFill>
                <a:schemeClr val="bg1"/>
              </a:solidFill>
              <a:latin typeface="Open Sans"/>
              <a:ea typeface="Open Sans"/>
              <a:cs typeface="Open Sans"/>
            </a:endParaRPr>
          </a:p>
          <a:p>
            <a:pPr algn="ctr">
              <a:defRPr/>
            </a:pPr>
            <a:r>
              <a:rPr lang="ru-RU" sz="1000" b="0" i="0" u="none" strike="noStrike" cap="none" spc="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Новосибирск, СибГУТИ, 20 ноября 2025</a:t>
            </a:r>
            <a:endParaRPr lang="en-US" sz="1000" b="0" i="0" u="none" strike="noStrike" cap="none" spc="0">
              <a:solidFill>
                <a:schemeClr val="bg1"/>
              </a:solidFill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4739717" name="TextBox 1765524423"/>
          <p:cNvSpPr txBox="1"/>
          <p:nvPr/>
        </p:nvSpPr>
        <p:spPr bwMode="auto">
          <a:xfrm>
            <a:off x="303247" y="226560"/>
            <a:ext cx="1162224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Векторизация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2140504426" name="TextBox 1"/>
          <p:cNvSpPr txBox="1"/>
          <p:nvPr/>
        </p:nvSpPr>
        <p:spPr bwMode="auto">
          <a:xfrm>
            <a:off x="303246" y="1169193"/>
            <a:ext cx="10144927" cy="4480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ru-RU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Векторизация</a:t>
            </a:r>
            <a:r>
              <a:rPr sz="2400"/>
              <a:t> — это </a:t>
            </a:r>
            <a:r>
              <a:rPr sz="2400"/>
              <a:t>процесс написания или трансляции программного кода с учётом использования векторных инструкций целевой платформы.</a:t>
            </a:r>
            <a:endParaRPr sz="2400"/>
          </a:p>
          <a:p>
            <a:pPr algn="just">
              <a:defRPr/>
            </a:pPr>
            <a:endParaRPr sz="2400"/>
          </a:p>
          <a:p>
            <a:pPr marL="349965" indent="-349965" algn="just">
              <a:buFont typeface="Arial"/>
              <a:buChar char="•"/>
              <a:defRPr/>
            </a:pPr>
            <a:r>
              <a:rPr sz="2400"/>
              <a:t>Позволяет снизить время выполнения программы за счёт параллельной обработки данных;</a:t>
            </a:r>
            <a:endParaRPr sz="2400"/>
          </a:p>
          <a:p>
            <a:pPr algn="just">
              <a:defRPr/>
            </a:pPr>
            <a:endParaRPr sz="2400"/>
          </a:p>
          <a:p>
            <a:pPr marL="349965" indent="-349965" algn="just">
              <a:buFont typeface="Arial"/>
              <a:buChar char="•"/>
              <a:defRPr/>
            </a:pPr>
            <a:r>
              <a:rPr sz="2400"/>
              <a:t>Векторизованная программа задействует векторные регистры процессора и не требует больше одного потока;</a:t>
            </a:r>
            <a:endParaRPr sz="2400"/>
          </a:p>
          <a:p>
            <a:pPr algn="just">
              <a:defRPr/>
            </a:pPr>
            <a:endParaRPr sz="2400"/>
          </a:p>
          <a:p>
            <a:pPr marL="349965" indent="-349965" algn="just">
              <a:buFont typeface="Arial"/>
              <a:buChar char="•"/>
              <a:defRPr/>
            </a:pPr>
            <a:r>
              <a:rPr sz="2400"/>
              <a:t>Может быть осуществлена компилятором, что не требует изменений в исходном коде.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391834" name="TextBox 1765524423"/>
          <p:cNvSpPr txBox="1"/>
          <p:nvPr/>
        </p:nvSpPr>
        <p:spPr bwMode="auto">
          <a:xfrm>
            <a:off x="303247" y="226560"/>
            <a:ext cx="1163016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Векторизуемые таргеты </a:t>
            </a:r>
            <a:r>
              <a:rPr lang="en-US" sz="3600">
                <a:latin typeface="Open Sans Extrabold"/>
                <a:cs typeface="Open Sans Extrabold"/>
              </a:rPr>
              <a:t>LLVM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621170658" name="TextBox 1"/>
          <p:cNvSpPr txBox="1"/>
          <p:nvPr/>
        </p:nvSpPr>
        <p:spPr bwMode="auto">
          <a:xfrm flipH="0" flipV="0">
            <a:off x="303247" y="1426369"/>
            <a:ext cx="10521366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ru-RU" sz="2400"/>
              <a:t>Таргеты, для которых </a:t>
            </a:r>
            <a:r>
              <a:rPr lang="en-US" sz="2400"/>
              <a:t>LLVM </a:t>
            </a:r>
            <a:r>
              <a:rPr lang="ru-RU" sz="2400"/>
              <a:t>может генерировать векторные инструкции</a:t>
            </a:r>
            <a:r>
              <a:rPr sz="2400"/>
              <a:t>:</a:t>
            </a:r>
            <a:endParaRPr sz="2400"/>
          </a:p>
        </p:txBody>
      </p:sp>
      <p:grpSp>
        <p:nvGrpSpPr>
          <p:cNvPr id="2085901100" name=""/>
          <p:cNvGrpSpPr/>
          <p:nvPr/>
        </p:nvGrpSpPr>
        <p:grpSpPr bwMode="auto">
          <a:xfrm>
            <a:off x="1062956" y="2273249"/>
            <a:ext cx="10022399" cy="3182400"/>
            <a:chOff x="0" y="0"/>
            <a:chExt cx="10022399" cy="3182400"/>
          </a:xfrm>
        </p:grpSpPr>
        <p:sp modelId="{8F416DF4-555D-452D-8B22-4D97EC146C00}">
          <p:nvSpPr>
            <p:cNvPr id="469252228" name=""/>
            <p:cNvSpPr/>
            <p:nvPr/>
          </p:nvSpPr>
          <p:spPr bwMode="auto">
            <a:xfrm rot="0" flipH="0" flipV="0">
              <a:off x="1440000" y="2160000"/>
              <a:ext cx="282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72389" tIns="72389" rIns="72389" bIns="7238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797"/>
                </a:spcAft>
                <a:buNone/>
                <a:defRPr/>
              </a:pPr>
              <a:r>
                <a:rPr lang="ru-RU" sz="19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AMDGPU</a:t>
              </a:r>
              <a:endParaRPr sz="1900">
                <a:solidFill>
                  <a:schemeClr val="bg1"/>
                </a:solidFill>
              </a:endParaRPr>
            </a:p>
          </p:txBody>
        </p:sp>
        <p:sp modelId="{759077B5-540E-4BB1-9739-4810333C7FDF}">
          <p:nvSpPr>
            <p:cNvPr id="1530295377" name=""/>
            <p:cNvSpPr/>
            <p:nvPr/>
          </p:nvSpPr>
          <p:spPr bwMode="auto">
            <a:xfrm rot="0" flipH="0" flipV="0">
              <a:off x="0" y="1080000"/>
              <a:ext cx="282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72389" tIns="72389" rIns="72389" bIns="7238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797"/>
                </a:spcAft>
                <a:buNone/>
                <a:defRPr/>
              </a:pPr>
              <a:r>
                <a:rPr lang="ru-RU" sz="19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PowerPC</a:t>
              </a:r>
              <a:endParaRPr sz="1900">
                <a:solidFill>
                  <a:schemeClr val="bg1"/>
                </a:solidFill>
              </a:endParaRPr>
            </a:p>
          </p:txBody>
        </p:sp>
        <p:sp modelId="{E040BF82-84FA-4ECE-A536-4DE51C1B2181}">
          <p:nvSpPr>
            <p:cNvPr id="20619745" name=""/>
            <p:cNvSpPr/>
            <p:nvPr/>
          </p:nvSpPr>
          <p:spPr bwMode="auto">
            <a:xfrm rot="0" flipH="0" flipV="0">
              <a:off x="0" y="0"/>
              <a:ext cx="138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72389" tIns="72389" rIns="72389" bIns="7238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797"/>
                </a:spcAft>
                <a:buNone/>
                <a:defRPr/>
              </a:pPr>
              <a:r>
                <a:rPr lang="ru-RU" sz="19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AArch64</a:t>
              </a:r>
              <a:endParaRPr sz="1900">
                <a:solidFill>
                  <a:schemeClr val="bg1"/>
                </a:solidFill>
              </a:endParaRPr>
            </a:p>
          </p:txBody>
        </p:sp>
        <p:sp modelId="{15F6ED86-2A0E-4E21-858B-E151AC8718EF}">
          <p:nvSpPr>
            <p:cNvPr id="1466677676" name=""/>
            <p:cNvSpPr/>
            <p:nvPr/>
          </p:nvSpPr>
          <p:spPr bwMode="auto">
            <a:xfrm rot="0" flipH="0" flipV="0">
              <a:off x="1440000" y="0"/>
              <a:ext cx="138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72389" tIns="72389" rIns="72389" bIns="7238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797"/>
                </a:spcAft>
                <a:buNone/>
                <a:defRPr/>
              </a:pPr>
              <a:r>
                <a:rPr lang="en-US" sz="19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SPIRV</a:t>
              </a:r>
              <a:endParaRPr sz="1900">
                <a:solidFill>
                  <a:schemeClr val="bg1"/>
                </a:solidFill>
              </a:endParaRPr>
            </a:p>
          </p:txBody>
        </p:sp>
        <p:sp modelId="{94EB4155-DA99-40B1-917E-5676F76BFF57}">
          <p:nvSpPr>
            <p:cNvPr id="1988035466" name=""/>
            <p:cNvSpPr/>
            <p:nvPr/>
          </p:nvSpPr>
          <p:spPr bwMode="auto">
            <a:xfrm rot="0" flipH="0" flipV="0">
              <a:off x="2880000" y="1080000"/>
              <a:ext cx="138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72389" tIns="72389" rIns="72389" bIns="7238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797"/>
                </a:spcAft>
                <a:buNone/>
                <a:defRPr/>
              </a:pPr>
              <a:r>
                <a:rPr lang="ru-RU" sz="19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NVPTX</a:t>
              </a:r>
              <a:endParaRPr sz="1900">
                <a:solidFill>
                  <a:schemeClr val="bg1"/>
                </a:solidFill>
              </a:endParaRPr>
            </a:p>
          </p:txBody>
        </p:sp>
        <p:sp modelId="{90A92363-83DE-4F3B-ADFE-1A378AE296C2}">
          <p:nvSpPr>
            <p:cNvPr id="202503061" name=""/>
            <p:cNvSpPr/>
            <p:nvPr/>
          </p:nvSpPr>
          <p:spPr bwMode="auto">
            <a:xfrm rot="0" flipH="0" flipV="0">
              <a:off x="2880000" y="0"/>
              <a:ext cx="282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72389" tIns="72389" rIns="72389" bIns="7238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797"/>
                </a:spcAft>
                <a:buNone/>
                <a:defRPr/>
              </a:pPr>
              <a:r>
                <a:rPr lang="ru-RU" sz="19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ARM</a:t>
              </a:r>
              <a:endParaRPr sz="1900">
                <a:solidFill>
                  <a:schemeClr val="bg1"/>
                </a:solidFill>
              </a:endParaRPr>
            </a:p>
          </p:txBody>
        </p:sp>
        <p:sp modelId="{C3D90946-1E3B-4149-A7DE-C4756B931921}">
          <p:nvSpPr>
            <p:cNvPr id="368621965" name=""/>
            <p:cNvSpPr/>
            <p:nvPr/>
          </p:nvSpPr>
          <p:spPr bwMode="auto">
            <a:xfrm rot="0" flipH="0" flipV="0">
              <a:off x="5759999" y="0"/>
              <a:ext cx="282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80010" tIns="80010" rIns="80010" bIns="80010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881"/>
                </a:spcAft>
                <a:buNone/>
                <a:defRPr/>
              </a:pPr>
              <a:r>
                <a:rPr lang="ru-RU" sz="21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Hexagon</a:t>
              </a:r>
              <a:endParaRPr sz="2100">
                <a:solidFill>
                  <a:schemeClr val="bg1"/>
                </a:solidFill>
              </a:endParaRPr>
            </a:p>
          </p:txBody>
        </p:sp>
        <p:sp modelId="{AA3EF135-D2D0-4A20-91C5-5177D5DEBDDA}">
          <p:nvSpPr>
            <p:cNvPr id="1621070820" name=""/>
            <p:cNvSpPr/>
            <p:nvPr/>
          </p:nvSpPr>
          <p:spPr bwMode="auto">
            <a:xfrm rot="0" flipH="0" flipV="0">
              <a:off x="4320000" y="1080000"/>
              <a:ext cx="282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80010" tIns="80010" rIns="80010" bIns="80010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881"/>
                </a:spcAft>
                <a:buNone/>
                <a:defRPr/>
              </a:pPr>
              <a:r>
                <a:rPr lang="ru-RU" sz="21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WebAssembly</a:t>
              </a:r>
              <a:endParaRPr sz="2100">
                <a:solidFill>
                  <a:schemeClr val="bg1"/>
                </a:solidFill>
              </a:endParaRPr>
            </a:p>
          </p:txBody>
        </p:sp>
        <p:sp modelId="{3AF79877-0D5B-4D71-BAE2-C4B2849407C5}">
          <p:nvSpPr>
            <p:cNvPr id="1014730715" name=""/>
            <p:cNvSpPr/>
            <p:nvPr/>
          </p:nvSpPr>
          <p:spPr bwMode="auto">
            <a:xfrm rot="0" flipH="0" flipV="0">
              <a:off x="4320000" y="2160000"/>
              <a:ext cx="138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80009" tIns="80009" rIns="80009" bIns="8000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881"/>
                </a:spcAft>
                <a:buNone/>
                <a:defRPr/>
              </a:pPr>
              <a:r>
                <a:rPr lang="ru-RU" sz="21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SystemZ</a:t>
              </a:r>
              <a:endParaRPr sz="2100">
                <a:solidFill>
                  <a:schemeClr val="bg1"/>
                </a:solidFill>
              </a:endParaRPr>
            </a:p>
          </p:txBody>
        </p:sp>
        <p:sp modelId="{55CA9F27-BD0A-4B2A-ABCC-71DEB4B2E40E}">
          <p:nvSpPr>
            <p:cNvPr id="1163734258" name=""/>
            <p:cNvSpPr/>
            <p:nvPr/>
          </p:nvSpPr>
          <p:spPr bwMode="auto">
            <a:xfrm rot="0" flipH="0" flipV="0">
              <a:off x="5759999" y="2160000"/>
              <a:ext cx="138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80009" tIns="80009" rIns="80009" bIns="8000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881"/>
                </a:spcAft>
                <a:buNone/>
                <a:defRPr/>
              </a:pPr>
              <a:r>
                <a:rPr lang="ru-RU" sz="21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VE</a:t>
              </a:r>
              <a:endParaRPr sz="2100">
                <a:solidFill>
                  <a:schemeClr val="bg1"/>
                </a:solidFill>
              </a:endParaRPr>
            </a:p>
          </p:txBody>
        </p:sp>
        <p:sp modelId="{DC8D0786-480B-4E14-82CE-753EEFA31C36}">
          <p:nvSpPr>
            <p:cNvPr id="1755855274" name=""/>
            <p:cNvSpPr/>
            <p:nvPr/>
          </p:nvSpPr>
          <p:spPr bwMode="auto">
            <a:xfrm rot="0" flipH="0" flipV="0">
              <a:off x="7199999" y="1080000"/>
              <a:ext cx="282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80010" tIns="80010" rIns="80010" bIns="80010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881"/>
                </a:spcAft>
                <a:buNone/>
                <a:defRPr/>
              </a:pPr>
              <a:r>
                <a:rPr lang="ru-RU" sz="21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RISCV</a:t>
              </a:r>
              <a:endParaRPr sz="2100">
                <a:solidFill>
                  <a:schemeClr val="bg1"/>
                </a:solidFill>
              </a:endParaRPr>
            </a:p>
          </p:txBody>
        </p:sp>
        <p:sp modelId="{CD876604-56BF-4FF7-89E7-DA53C7A16D91}">
          <p:nvSpPr>
            <p:cNvPr id="1027867906" name=""/>
            <p:cNvSpPr/>
            <p:nvPr/>
          </p:nvSpPr>
          <p:spPr bwMode="auto">
            <a:xfrm rot="0" flipH="0" flipV="0">
              <a:off x="7200000" y="2160000"/>
              <a:ext cx="138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80009" tIns="80009" rIns="80009" bIns="8000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881"/>
                </a:spcAft>
                <a:buNone/>
                <a:defRPr/>
              </a:pPr>
              <a:r>
                <a:rPr lang="ru-RU" sz="21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X86</a:t>
              </a:r>
              <a:endParaRPr sz="2100">
                <a:solidFill>
                  <a:schemeClr val="bg1"/>
                </a:solidFill>
              </a:endParaRPr>
            </a:p>
          </p:txBody>
        </p:sp>
        <p:sp modelId="{E040BF82-84FA-4ECE-A536-4DE51C1B2181}">
          <p:nvSpPr>
            <p:cNvPr id="1901523281" name=""/>
            <p:cNvSpPr/>
            <p:nvPr/>
          </p:nvSpPr>
          <p:spPr bwMode="auto">
            <a:xfrm rot="0" flipH="0" flipV="0">
              <a:off x="0" y="2160000"/>
              <a:ext cx="138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72389" tIns="72389" rIns="72389" bIns="72389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796"/>
                </a:spcAft>
                <a:buNone/>
                <a:defRPr/>
              </a:pPr>
              <a:r>
                <a:rPr lang="ru-RU" sz="19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Spark</a:t>
              </a:r>
              <a:endParaRPr sz="1900">
                <a:solidFill>
                  <a:schemeClr val="bg1"/>
                </a:solidFill>
              </a:endParaRPr>
            </a:p>
          </p:txBody>
        </p:sp>
        <p:sp modelId="{CD876604-56BF-4FF7-89E7-DA53C7A16D91}">
          <p:nvSpPr>
            <p:cNvPr id="664269012" name=""/>
            <p:cNvSpPr/>
            <p:nvPr/>
          </p:nvSpPr>
          <p:spPr bwMode="auto">
            <a:xfrm rot="0" flipH="0" flipV="0">
              <a:off x="8640000" y="2160000"/>
              <a:ext cx="138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80007" tIns="80007" rIns="80007" bIns="80007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880"/>
                </a:spcAft>
                <a:buNone/>
                <a:defRPr/>
              </a:pPr>
              <a:r>
                <a:rPr lang="ru-RU" sz="21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Xtensa</a:t>
              </a:r>
              <a:endParaRPr sz="2100">
                <a:solidFill>
                  <a:schemeClr val="bg1"/>
                </a:solidFill>
              </a:endParaRPr>
            </a:p>
          </p:txBody>
        </p:sp>
        <p:sp modelId="{CD876604-56BF-4FF7-89E7-DA53C7A16D91}">
          <p:nvSpPr>
            <p:cNvPr id="193912846" name=""/>
            <p:cNvSpPr/>
            <p:nvPr/>
          </p:nvSpPr>
          <p:spPr bwMode="auto">
            <a:xfrm rot="0" flipH="0" flipV="0">
              <a:off x="8639999" y="0"/>
              <a:ext cx="1382400" cy="10224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  <a:alpha val="99999"/>
              </a:schemeClr>
            </a:solidFill>
            <a:ln w="12699" cap="flat" cmpd="sng" algn="ctr">
              <a:noFill/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80007" tIns="80007" rIns="80007" bIns="80007" numCol="1" spcCol="1268" rtlCol="0" fromWordArt="0" anchor="ctr" anchorCtr="0" forceAA="0" upright="0" compatLnSpc="0">
              <a:noAutofit/>
            </a:bodyPr>
            <a:lstStyle/>
            <a:p>
              <a:pPr marL="0" lvl="0" indent="0" algn="ctr" defTabSz="2889249">
                <a:lnSpc>
                  <a:spcPct val="90000"/>
                </a:lnSpc>
                <a:spcBef>
                  <a:spcPts val="0"/>
                </a:spcBef>
                <a:spcAft>
                  <a:spcPts val="880"/>
                </a:spcAft>
                <a:buNone/>
                <a:defRPr/>
              </a:pPr>
              <a:r>
                <a:rPr lang="ru-RU" sz="21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Mips</a:t>
              </a:r>
              <a:endParaRPr sz="210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2050946" name="TextBox 1765524423"/>
          <p:cNvSpPr txBox="1"/>
          <p:nvPr/>
        </p:nvSpPr>
        <p:spPr bwMode="auto">
          <a:xfrm>
            <a:off x="303246" y="226559"/>
            <a:ext cx="1163412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3600">
                <a:latin typeface="Open Sans Extrabold"/>
                <a:cs typeface="Open Sans Extrabold"/>
              </a:rPr>
              <a:t>Проблема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87417846" name="TextBox 1"/>
          <p:cNvSpPr txBox="1"/>
          <p:nvPr/>
        </p:nvSpPr>
        <p:spPr bwMode="auto">
          <a:xfrm flipH="0" flipV="0">
            <a:off x="303246" y="1426368"/>
            <a:ext cx="10687685" cy="4054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3879" indent="-283879" algn="just">
              <a:buFont typeface="Arial"/>
              <a:buChar char="•"/>
              <a:defRPr/>
            </a:pPr>
            <a:r>
              <a:rPr lang="ru-RU" sz="2600"/>
              <a:t>Ни один из существующих на данный момент компиляторов не может векторизовать все циклы</a:t>
            </a:r>
            <a:r>
              <a:rPr lang="ru-RU" sz="2600"/>
              <a:t>;</a:t>
            </a:r>
            <a:endParaRPr lang="ru-RU" sz="2600"/>
          </a:p>
          <a:p>
            <a:pPr algn="just">
              <a:defRPr/>
            </a:pPr>
            <a:endParaRPr lang="ru-RU" sz="2600"/>
          </a:p>
          <a:p>
            <a:pPr marL="283879" indent="-283879" algn="just">
              <a:buFont typeface="Arial"/>
              <a:buChar char="•"/>
              <a:defRPr/>
            </a:pPr>
            <a:r>
              <a:rPr lang="ru-RU" sz="2600"/>
              <a:t>Из тестового набора </a:t>
            </a:r>
            <a:r>
              <a:rPr lang="en-US" sz="2600"/>
              <a:t>Extended Test Suite For Vectorizing Compilers (ETSVC)</a:t>
            </a:r>
            <a:r>
              <a:rPr lang="ru-RU" sz="2600"/>
              <a:t>, содержащего 151 тест, проверяющий способность компиляторов векторизовать циклы, </a:t>
            </a:r>
            <a:r>
              <a:rPr lang="en-US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clang version 22.0.0git </a:t>
            </a:r>
            <a:r>
              <a:rPr lang="ru-RU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может векторизовать только 103;</a:t>
            </a:r>
            <a:endParaRPr lang="ru-RU" sz="26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algn="just">
              <a:defRPr/>
            </a:pPr>
            <a:endParaRPr lang="ru-RU" sz="26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283879" indent="-283879" algn="just">
              <a:buFont typeface="Arial"/>
              <a:buChar char="•"/>
              <a:defRPr/>
            </a:pPr>
            <a:r>
              <a:rPr lang="ru-RU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Векторизация не всегда приводит к снижению времени выполнения программы.</a:t>
            </a:r>
            <a:endParaRPr sz="2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7822319" name="TextBox 1765524423"/>
          <p:cNvSpPr txBox="1"/>
          <p:nvPr/>
        </p:nvSpPr>
        <p:spPr bwMode="auto">
          <a:xfrm>
            <a:off x="303246" y="226559"/>
            <a:ext cx="116370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3600">
                <a:latin typeface="Open Sans Extrabold"/>
                <a:cs typeface="Open Sans Extrabold"/>
              </a:rPr>
              <a:t>Решение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2024438841" name="TextBox 1"/>
          <p:cNvSpPr txBox="1"/>
          <p:nvPr/>
        </p:nvSpPr>
        <p:spPr bwMode="auto">
          <a:xfrm flipH="0" flipV="0">
            <a:off x="303246" y="1426368"/>
            <a:ext cx="10712886" cy="488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3878" indent="-283878" algn="just">
              <a:buFont typeface="Arial"/>
              <a:buChar char="•"/>
              <a:defRPr/>
            </a:pPr>
            <a:r>
              <a:rPr lang="ru-RU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Продолжать разработку компиляторов, расширяя их возможности</a:t>
            </a:r>
            <a:endParaRPr sz="2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42190" name="TextBox 1765524423"/>
          <p:cNvSpPr txBox="1"/>
          <p:nvPr/>
        </p:nvSpPr>
        <p:spPr bwMode="auto">
          <a:xfrm>
            <a:off x="303246" y="226559"/>
            <a:ext cx="1164132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3600">
                <a:latin typeface="Open Sans Extrabold"/>
                <a:cs typeface="Open Sans Extrabold"/>
              </a:rPr>
              <a:t>Исследуемые случаи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658240790" name="TextBox 1"/>
          <p:cNvSpPr txBox="1"/>
          <p:nvPr/>
        </p:nvSpPr>
        <p:spPr bwMode="auto">
          <a:xfrm rot="0" flipH="0" flipV="0">
            <a:off x="302400" y="1472399"/>
            <a:ext cx="5576760" cy="3384299"/>
          </a:xfrm>
          <a:prstGeom prst="rect">
            <a:avLst/>
          </a:prstGeom>
          <a:noFill/>
          <a:ln w="19049">
            <a:solidFill>
              <a:schemeClr val="accent1">
                <a:lumMod val="74901"/>
              </a:schemeClr>
            </a:solidFill>
            <a:prstDash val="dash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Autofit/>
          </a:bodyPr>
          <a:lstStyle/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s291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2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struct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BB0066"/>
                </a:solidFill>
                <a:latin typeface="Courier New"/>
                <a:ea typeface="Courier New"/>
                <a:cs typeface="Courier New"/>
              </a:rPr>
              <a:t>args_t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func_args) {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t1,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sz="12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2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iterations;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sz="12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-1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2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2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b[im1])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sz="12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t2,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903807569" name="TextBox 1"/>
          <p:cNvSpPr txBox="1"/>
          <p:nvPr/>
        </p:nvSpPr>
        <p:spPr bwMode="auto">
          <a:xfrm flipH="0" flipV="0">
            <a:off x="5873003" y="1473059"/>
            <a:ext cx="6072288" cy="3383639"/>
          </a:xfrm>
          <a:prstGeom prst="rect">
            <a:avLst/>
          </a:prstGeom>
          <a:noFill/>
          <a:ln w="19049">
            <a:solidFill>
              <a:schemeClr val="accent1">
                <a:lumMod val="74901"/>
              </a:schemeClr>
            </a:solidFill>
            <a:prstDash val="dash"/>
          </a:ln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s292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2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struct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BB0066"/>
                </a:solidFill>
                <a:latin typeface="Courier New"/>
                <a:ea typeface="Courier New"/>
                <a:cs typeface="Courier New"/>
              </a:rPr>
              <a:t>args_t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func_args) {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t1,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im2;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2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iterations;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sz="12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-1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im2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sz="12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-2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2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2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b[im2])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sz="12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.333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im2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t2,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2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 </a:t>
            </a:r>
            <a:br>
              <a:rPr sz="12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</a:br>
            <a:endParaRPr sz="12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3514443" name="TextBox 1765524423"/>
          <p:cNvSpPr txBox="1"/>
          <p:nvPr/>
        </p:nvSpPr>
        <p:spPr bwMode="auto">
          <a:xfrm>
            <a:off x="303246" y="226559"/>
            <a:ext cx="116524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Разберёмся подробнее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742233402" name=""/>
          <p:cNvSpPr txBox="1"/>
          <p:nvPr/>
        </p:nvSpPr>
        <p:spPr bwMode="auto">
          <a:xfrm rot="0" flipH="0" flipV="0">
            <a:off x="303245" y="1920060"/>
            <a:ext cx="6158633" cy="39932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struct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BB0066"/>
                </a:solidFill>
                <a:latin typeface="Courier New"/>
                <a:ea typeface="Courier New"/>
                <a:cs typeface="Courier New"/>
              </a:rPr>
              <a:t>args_t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func_args) 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t1,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iterations;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t2,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600"/>
          </a:p>
        </p:txBody>
      </p:sp>
      <p:sp>
        <p:nvSpPr>
          <p:cNvPr id="1320911016" name=""/>
          <p:cNvSpPr/>
          <p:nvPr/>
        </p:nvSpPr>
        <p:spPr bwMode="auto">
          <a:xfrm rot="0" flipH="0" flipV="0">
            <a:off x="1448775" y="3181349"/>
            <a:ext cx="4943474" cy="1247774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75330706" name=""/>
          <p:cNvSpPr txBox="1"/>
          <p:nvPr/>
        </p:nvSpPr>
        <p:spPr bwMode="auto">
          <a:xfrm rot="0" flipH="0" flipV="0">
            <a:off x="8396438" y="2773499"/>
            <a:ext cx="2842060" cy="36611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Основной тестовый цикл</a:t>
            </a:r>
            <a:endParaRPr/>
          </a:p>
        </p:txBody>
      </p:sp>
      <p:cxnSp>
        <p:nvCxnSpPr>
          <p:cNvPr id="391366135" name=""/>
          <p:cNvCxnSpPr>
            <a:stCxn id="575330706" idx="1"/>
            <a:endCxn id="1320911016" idx="3"/>
          </p:cNvCxnSpPr>
          <p:nvPr/>
        </p:nvCxnSpPr>
        <p:spPr bwMode="auto">
          <a:xfrm rot="10799990" flipH="0" flipV="1">
            <a:off x="6392250" y="2956559"/>
            <a:ext cx="2004188" cy="848677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709183" name="TextBox 1765524423"/>
          <p:cNvSpPr txBox="1"/>
          <p:nvPr/>
        </p:nvSpPr>
        <p:spPr bwMode="auto">
          <a:xfrm>
            <a:off x="303246" y="226558"/>
            <a:ext cx="116524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Разберёмся подробнее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324489465" name=""/>
          <p:cNvSpPr txBox="1"/>
          <p:nvPr/>
        </p:nvSpPr>
        <p:spPr bwMode="auto">
          <a:xfrm rot="0" flipH="0" flipV="0">
            <a:off x="303244" y="1920060"/>
            <a:ext cx="6158633" cy="39932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struct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BB0066"/>
                </a:solidFill>
                <a:latin typeface="Courier New"/>
                <a:ea typeface="Courier New"/>
                <a:cs typeface="Courier New"/>
              </a:rPr>
              <a:t>args_t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func_args) 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t1,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iterations;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t2,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600"/>
          </a:p>
        </p:txBody>
      </p:sp>
      <p:sp>
        <p:nvSpPr>
          <p:cNvPr id="494419822" name=""/>
          <p:cNvSpPr/>
          <p:nvPr/>
        </p:nvSpPr>
        <p:spPr bwMode="auto">
          <a:xfrm rot="0" flipH="0" flipV="0">
            <a:off x="972524" y="2943224"/>
            <a:ext cx="5391149" cy="1962149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58057478" name=""/>
          <p:cNvSpPr txBox="1"/>
          <p:nvPr/>
        </p:nvSpPr>
        <p:spPr bwMode="auto">
          <a:xfrm rot="0" flipH="0" flipV="0">
            <a:off x="8396438" y="2773499"/>
            <a:ext cx="3445026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Многократное выполнение теста для </a:t>
            </a:r>
            <a:r>
              <a:rPr/>
              <a:t>составления статистики</a:t>
            </a:r>
            <a:endParaRPr/>
          </a:p>
        </p:txBody>
      </p:sp>
      <p:cxnSp>
        <p:nvCxnSpPr>
          <p:cNvPr id="4504305" name=""/>
          <p:cNvCxnSpPr>
            <a:stCxn id="858057478" idx="1"/>
            <a:endCxn id="494419822" idx="3"/>
          </p:cNvCxnSpPr>
          <p:nvPr/>
        </p:nvCxnSpPr>
        <p:spPr bwMode="auto">
          <a:xfrm rot="10799990" flipH="0" flipV="1">
            <a:off x="6363675" y="3093719"/>
            <a:ext cx="2032763" cy="830579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3424" name="TextBox 1765524423"/>
          <p:cNvSpPr txBox="1"/>
          <p:nvPr/>
        </p:nvSpPr>
        <p:spPr bwMode="auto">
          <a:xfrm>
            <a:off x="303246" y="226558"/>
            <a:ext cx="116524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Разберёмся подробнее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9207447" name=""/>
          <p:cNvSpPr txBox="1"/>
          <p:nvPr/>
        </p:nvSpPr>
        <p:spPr bwMode="auto">
          <a:xfrm rot="0" flipH="0" flipV="0">
            <a:off x="303244" y="1920060"/>
            <a:ext cx="6158633" cy="39932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struct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BB0066"/>
                </a:solidFill>
                <a:latin typeface="Courier New"/>
                <a:ea typeface="Courier New"/>
                <a:cs typeface="Courier New"/>
              </a:rPr>
              <a:t>args_t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func_args) 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t1,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iterations;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t2,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600"/>
          </a:p>
        </p:txBody>
      </p:sp>
      <p:sp>
        <p:nvSpPr>
          <p:cNvPr id="1005814267" name=""/>
          <p:cNvSpPr/>
          <p:nvPr/>
        </p:nvSpPr>
        <p:spPr bwMode="auto">
          <a:xfrm rot="0" flipH="0" flipV="0">
            <a:off x="1448775" y="3181349"/>
            <a:ext cx="1838324" cy="247649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01544025" name=""/>
          <p:cNvSpPr txBox="1"/>
          <p:nvPr/>
        </p:nvSpPr>
        <p:spPr bwMode="auto">
          <a:xfrm rot="0" flipH="0" flipV="0">
            <a:off x="8396438" y="2773499"/>
            <a:ext cx="2730456" cy="36611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Переменная состояния</a:t>
            </a:r>
            <a:endParaRPr/>
          </a:p>
        </p:txBody>
      </p:sp>
      <p:cxnSp>
        <p:nvCxnSpPr>
          <p:cNvPr id="833767273" name=""/>
          <p:cNvCxnSpPr>
            <a:stCxn id="601544025" idx="1"/>
            <a:endCxn id="1005814267" idx="3"/>
          </p:cNvCxnSpPr>
          <p:nvPr/>
        </p:nvCxnSpPr>
        <p:spPr bwMode="auto">
          <a:xfrm rot="10799990" flipH="0" flipV="1">
            <a:off x="3287099" y="2956559"/>
            <a:ext cx="5109338" cy="348615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2618524" name="TextBox 1765524423"/>
          <p:cNvSpPr txBox="1"/>
          <p:nvPr/>
        </p:nvSpPr>
        <p:spPr bwMode="auto">
          <a:xfrm>
            <a:off x="303246" y="226558"/>
            <a:ext cx="116524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Разберёмся подробнее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434411322" name=""/>
          <p:cNvSpPr txBox="1"/>
          <p:nvPr/>
        </p:nvSpPr>
        <p:spPr bwMode="auto">
          <a:xfrm rot="0" flipH="0" flipV="0">
            <a:off x="303244" y="1920060"/>
            <a:ext cx="6158633" cy="39932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struct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BB0066"/>
                </a:solidFill>
                <a:latin typeface="Courier New"/>
                <a:ea typeface="Courier New"/>
                <a:cs typeface="Courier New"/>
              </a:rPr>
              <a:t>args_t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func_args) 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t1,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iterations;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t2,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600"/>
          </a:p>
        </p:txBody>
      </p:sp>
      <p:sp>
        <p:nvSpPr>
          <p:cNvPr id="184006133" name=""/>
          <p:cNvSpPr/>
          <p:nvPr/>
        </p:nvSpPr>
        <p:spPr bwMode="auto">
          <a:xfrm rot="0" flipH="0" flipV="0">
            <a:off x="3744299" y="3669030"/>
            <a:ext cx="914399" cy="247648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26780734" name=""/>
          <p:cNvSpPr txBox="1"/>
          <p:nvPr/>
        </p:nvSpPr>
        <p:spPr bwMode="auto">
          <a:xfrm rot="0" flipH="0" flipV="0">
            <a:off x="8396438" y="2773499"/>
            <a:ext cx="3025731" cy="118907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На первой итерации используется для обращения к последнему элементу массива</a:t>
            </a:r>
            <a:endParaRPr/>
          </a:p>
        </p:txBody>
      </p:sp>
      <p:cxnSp>
        <p:nvCxnSpPr>
          <p:cNvPr id="208399250" name=""/>
          <p:cNvCxnSpPr>
            <a:stCxn id="2126780734" idx="1"/>
            <a:endCxn id="184006133" idx="3"/>
          </p:cNvCxnSpPr>
          <p:nvPr/>
        </p:nvCxnSpPr>
        <p:spPr bwMode="auto">
          <a:xfrm rot="10799990" flipH="0" flipV="1">
            <a:off x="4658699" y="3368039"/>
            <a:ext cx="3737738" cy="424815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5465676" name="TextBox 1765524423"/>
          <p:cNvSpPr txBox="1"/>
          <p:nvPr/>
        </p:nvSpPr>
        <p:spPr bwMode="auto">
          <a:xfrm>
            <a:off x="303246" y="226558"/>
            <a:ext cx="116524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Разберёмся подробнее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071562349" name=""/>
          <p:cNvSpPr txBox="1"/>
          <p:nvPr/>
        </p:nvSpPr>
        <p:spPr bwMode="auto">
          <a:xfrm rot="0" flipH="0" flipV="0">
            <a:off x="303244" y="1920060"/>
            <a:ext cx="6158633" cy="39932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struct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BB0066"/>
                </a:solidFill>
                <a:latin typeface="Courier New"/>
                <a:ea typeface="Courier New"/>
                <a:cs typeface="Courier New"/>
              </a:rPr>
              <a:t>args_t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func_args) 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t1,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iterations;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t2,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600"/>
          </a:p>
        </p:txBody>
      </p:sp>
      <p:sp>
        <p:nvSpPr>
          <p:cNvPr id="1017646633" name=""/>
          <p:cNvSpPr/>
          <p:nvPr/>
        </p:nvSpPr>
        <p:spPr bwMode="auto">
          <a:xfrm rot="0" flipH="0" flipV="0">
            <a:off x="1934550" y="3907155"/>
            <a:ext cx="1009649" cy="247648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14550148" name=""/>
          <p:cNvSpPr txBox="1"/>
          <p:nvPr/>
        </p:nvSpPr>
        <p:spPr bwMode="auto">
          <a:xfrm rot="0" flipH="0" flipV="0">
            <a:off x="8396438" y="2773498"/>
            <a:ext cx="3063831" cy="118907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На каждой последующей итерации равна предыдущему значению индукционной переменной</a:t>
            </a:r>
            <a:endParaRPr/>
          </a:p>
        </p:txBody>
      </p:sp>
      <p:cxnSp>
        <p:nvCxnSpPr>
          <p:cNvPr id="472726953" name=""/>
          <p:cNvCxnSpPr>
            <a:stCxn id="514550148" idx="1"/>
            <a:endCxn id="1017646633" idx="3"/>
          </p:cNvCxnSpPr>
          <p:nvPr/>
        </p:nvCxnSpPr>
        <p:spPr bwMode="auto">
          <a:xfrm rot="10799990" flipH="0" flipV="1">
            <a:off x="2944199" y="3368038"/>
            <a:ext cx="5452238" cy="662941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8348400" name="TextBox 1765524423"/>
          <p:cNvSpPr txBox="1"/>
          <p:nvPr/>
        </p:nvSpPr>
        <p:spPr bwMode="auto">
          <a:xfrm>
            <a:off x="303246" y="226558"/>
            <a:ext cx="116524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Разберёмся подробнее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269990130" name=""/>
          <p:cNvSpPr txBox="1"/>
          <p:nvPr/>
        </p:nvSpPr>
        <p:spPr bwMode="auto">
          <a:xfrm rot="0" flipH="0" flipV="0">
            <a:off x="303244" y="1920060"/>
            <a:ext cx="7499967" cy="4755240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s292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struct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BB0066"/>
                </a:solidFill>
                <a:latin typeface="Courier New"/>
                <a:ea typeface="Courier New"/>
                <a:cs typeface="Courier New"/>
              </a:rPr>
              <a:t>args_t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func_args) 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t1,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im2;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iterations;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-1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im2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-2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lang="ru-RU" sz="1600" b="1" i="0" u="none" strike="noStrike" cap="none" spc="0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b[im2])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.333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im2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1" i="0" u="none" strike="noStrike" cap="none" spc="0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t2,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ru-RU" sz="1600" b="1" i="0" u="none" strike="noStrike" cap="none" spc="0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ru-RU" sz="1600" b="0" i="0" u="none" strike="noStrike" cap="none" spc="0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 </a:t>
            </a:r>
            <a:br>
              <a:rPr lang="ru-RU" sz="1600" b="0" i="0" u="none" strike="noStrike" cap="none" spc="0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</a:b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/>
          </a:p>
        </p:txBody>
      </p:sp>
      <p:sp>
        <p:nvSpPr>
          <p:cNvPr id="1726329639" name=""/>
          <p:cNvSpPr/>
          <p:nvPr/>
        </p:nvSpPr>
        <p:spPr bwMode="auto">
          <a:xfrm rot="0" flipH="0" flipV="0">
            <a:off x="1934550" y="4145280"/>
            <a:ext cx="1257299" cy="502918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68218249" name=""/>
          <p:cNvSpPr txBox="1"/>
          <p:nvPr/>
        </p:nvSpPr>
        <p:spPr bwMode="auto">
          <a:xfrm rot="0" flipH="0" flipV="0">
            <a:off x="8396438" y="2773498"/>
            <a:ext cx="3091910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Второй тест аналогичен первому, но содержит две переменные состояния</a:t>
            </a:r>
            <a:endParaRPr/>
          </a:p>
        </p:txBody>
      </p:sp>
      <p:cxnSp>
        <p:nvCxnSpPr>
          <p:cNvPr id="219787604" name=""/>
          <p:cNvCxnSpPr>
            <a:stCxn id="1568218249" idx="1"/>
            <a:endCxn id="1726329639" idx="3"/>
          </p:cNvCxnSpPr>
          <p:nvPr/>
        </p:nvCxnSpPr>
        <p:spPr bwMode="auto">
          <a:xfrm rot="10799990" flipH="0" flipV="1">
            <a:off x="3191850" y="3368038"/>
            <a:ext cx="5204588" cy="1028701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1434850" name="TextBox 1765524423"/>
          <p:cNvSpPr txBox="1"/>
          <p:nvPr/>
        </p:nvSpPr>
        <p:spPr bwMode="auto">
          <a:xfrm>
            <a:off x="303246" y="226558"/>
            <a:ext cx="1166112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Как это векторизовать?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2089395256" name=""/>
          <p:cNvSpPr txBox="1"/>
          <p:nvPr/>
        </p:nvSpPr>
        <p:spPr bwMode="auto">
          <a:xfrm rot="0" flipH="0" flipV="0">
            <a:off x="303244" y="1920060"/>
            <a:ext cx="6158633" cy="423707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s291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struct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BB0066"/>
                </a:solidFill>
                <a:latin typeface="Courier New"/>
                <a:ea typeface="Courier New"/>
                <a:cs typeface="Courier New"/>
              </a:rPr>
              <a:t>args_t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func_args) 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t1,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iterations;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nl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sz="16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-1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</a:t>
            </a:r>
            <a:r>
              <a:rPr sz="16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</a:t>
            </a:r>
            <a:r>
              <a:rPr sz="16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b[im1])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b[im1])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gettimeofday(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func_args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t2,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NULL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 </a:t>
            </a:r>
            <a:endParaRPr sz="2600"/>
          </a:p>
        </p:txBody>
      </p:sp>
      <p:sp>
        <p:nvSpPr>
          <p:cNvPr id="1408201643" name=""/>
          <p:cNvSpPr/>
          <p:nvPr/>
        </p:nvSpPr>
        <p:spPr bwMode="auto">
          <a:xfrm rot="0" flipH="0" flipV="0">
            <a:off x="1448775" y="3181350"/>
            <a:ext cx="4467224" cy="495298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43525577" name=""/>
          <p:cNvSpPr txBox="1"/>
          <p:nvPr/>
        </p:nvSpPr>
        <p:spPr bwMode="auto">
          <a:xfrm rot="0" flipH="0" flipV="0">
            <a:off x="8396438" y="2773498"/>
            <a:ext cx="3197181" cy="17377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Если вынести за пределы цикла первую итерацию, в которой переменная состояния не зависит от индукционной переменной, то цикл векторизуется</a:t>
            </a:r>
            <a:endParaRPr/>
          </a:p>
        </p:txBody>
      </p:sp>
      <p:cxnSp>
        <p:nvCxnSpPr>
          <p:cNvPr id="1311158170" name=""/>
          <p:cNvCxnSpPr>
            <a:stCxn id="343525577" idx="1"/>
            <a:endCxn id="1408201643" idx="3"/>
          </p:cNvCxnSpPr>
          <p:nvPr/>
        </p:nvCxnSpPr>
        <p:spPr bwMode="auto">
          <a:xfrm rot="10799990" flipH="0" flipV="0">
            <a:off x="5915999" y="3429000"/>
            <a:ext cx="2480438" cy="213358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017309" name="TextBox 1765524423"/>
          <p:cNvSpPr txBox="1"/>
          <p:nvPr/>
        </p:nvSpPr>
        <p:spPr bwMode="auto">
          <a:xfrm>
            <a:off x="303246" y="226558"/>
            <a:ext cx="116622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Промежуточное представление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602927692" name="TextBox 1"/>
          <p:cNvSpPr txBox="1"/>
          <p:nvPr/>
        </p:nvSpPr>
        <p:spPr bwMode="auto">
          <a:xfrm flipH="0" flipV="0">
            <a:off x="303246" y="1426367"/>
            <a:ext cx="10863005" cy="3657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ru-RU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Промежуточное представление </a:t>
            </a:r>
            <a:r>
              <a:rPr lang="en-US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(IR) </a:t>
            </a:r>
            <a:r>
              <a:rPr lang="ru-RU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— это специальный язык, используемый внутри компилятора для совершения </a:t>
            </a:r>
            <a:r>
              <a:rPr sz="2600"/>
              <a:t>архитектурно независимых оптимизаций.</a:t>
            </a:r>
            <a:endParaRPr sz="2600"/>
          </a:p>
          <a:p>
            <a:pPr algn="just">
              <a:defRPr/>
            </a:pPr>
            <a:endParaRPr sz="2600"/>
          </a:p>
          <a:p>
            <a:pPr marL="371994" indent="-371994" algn="just">
              <a:buFont typeface="Arial"/>
              <a:buChar char="•"/>
              <a:defRPr/>
            </a:pPr>
            <a:r>
              <a:rPr sz="2600"/>
              <a:t>Все программы сначала компилируются в </a:t>
            </a:r>
            <a:r>
              <a:rPr lang="en-US" sz="2600"/>
              <a:t>IR;</a:t>
            </a:r>
            <a:endParaRPr lang="en-US" sz="2600"/>
          </a:p>
          <a:p>
            <a:pPr marL="371994" indent="-371994" algn="just">
              <a:buFont typeface="Arial"/>
              <a:buChar char="•"/>
              <a:defRPr/>
            </a:pPr>
            <a:endParaRPr sz="2600"/>
          </a:p>
          <a:p>
            <a:pPr marL="371994" indent="-371994" algn="just">
              <a:buFont typeface="Arial"/>
              <a:buChar char="•"/>
              <a:defRPr/>
            </a:pPr>
            <a:r>
              <a:rPr lang="ru-RU" sz="2600"/>
              <a:t>Использование специального языка упрощает оптимизации и позволяет переиспользовать одни и те же оптимизации для разных языков и архитектур.</a:t>
            </a:r>
            <a:endParaRPr sz="2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833274" name="TextBox 1765524423"/>
          <p:cNvSpPr txBox="1"/>
          <p:nvPr/>
        </p:nvSpPr>
        <p:spPr bwMode="auto">
          <a:xfrm>
            <a:off x="303246" y="226558"/>
            <a:ext cx="1167444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s291 </a:t>
            </a:r>
            <a:r>
              <a:rPr lang="ru-RU" sz="3600">
                <a:latin typeface="Open Sans Extrabold"/>
                <a:cs typeface="Open Sans Extrabold"/>
              </a:rPr>
              <a:t>в промежуточном представлении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248025463" name="TextBox 1"/>
          <p:cNvSpPr txBox="1"/>
          <p:nvPr/>
        </p:nvSpPr>
        <p:spPr bwMode="auto">
          <a:xfrm flipH="0" flipV="0">
            <a:off x="303246" y="1426367"/>
            <a:ext cx="7157603" cy="3749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600" b="1" i="0" u="none">
                <a:solidFill>
                  <a:srgbClr val="997700"/>
                </a:solidFill>
                <a:latin typeface="Courier New"/>
                <a:ea typeface="Courier New"/>
                <a:cs typeface="Courier New"/>
              </a:rPr>
              <a:t>5: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</a:t>
            </a:r>
            <a:r>
              <a:rPr sz="1600" b="0" i="0" u="none">
                <a:solidFill>
                  <a:srgbClr val="888888"/>
                </a:solidFill>
                <a:latin typeface="Courier New"/>
                <a:ea typeface="Courier New"/>
                <a:cs typeface="Courier New"/>
              </a:rPr>
              <a:t>; preds = %0, %5</a:t>
            </a:r>
            <a:endParaRPr sz="1600" b="0" i="0" u="none">
              <a:solidFill>
                <a:srgbClr val="888888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31999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@b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load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and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4294967295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@b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load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fmul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5.000000e-01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@a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store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nsw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icmp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eq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32000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br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!llvm.loop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!13</a:t>
            </a:r>
            <a:endParaRPr sz="2600"/>
          </a:p>
        </p:txBody>
      </p:sp>
      <p:sp>
        <p:nvSpPr>
          <p:cNvPr id="435754182" name=""/>
          <p:cNvSpPr/>
          <p:nvPr/>
        </p:nvSpPr>
        <p:spPr bwMode="auto">
          <a:xfrm rot="0" flipH="0" flipV="0">
            <a:off x="591524" y="1704975"/>
            <a:ext cx="4305299" cy="247648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9480454" name=""/>
          <p:cNvSpPr txBox="1"/>
          <p:nvPr/>
        </p:nvSpPr>
        <p:spPr bwMode="auto">
          <a:xfrm rot="0" flipH="0" flipV="0">
            <a:off x="7891612" y="1521915"/>
            <a:ext cx="3120981" cy="36611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Индукционная переменная</a:t>
            </a:r>
            <a:endParaRPr/>
          </a:p>
        </p:txBody>
      </p:sp>
      <p:cxnSp>
        <p:nvCxnSpPr>
          <p:cNvPr id="1122931080" name=""/>
          <p:cNvCxnSpPr>
            <a:stCxn id="149480454" idx="1"/>
            <a:endCxn id="435754182" idx="3"/>
          </p:cNvCxnSpPr>
          <p:nvPr/>
        </p:nvCxnSpPr>
        <p:spPr bwMode="auto">
          <a:xfrm rot="10799990" flipH="0" flipV="1">
            <a:off x="4896824" y="1704975"/>
            <a:ext cx="2994787" cy="123824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431606" name="TextBox 1765524423"/>
          <p:cNvSpPr txBox="1"/>
          <p:nvPr/>
        </p:nvSpPr>
        <p:spPr bwMode="auto">
          <a:xfrm>
            <a:off x="303246" y="226558"/>
            <a:ext cx="1167444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s291 </a:t>
            </a:r>
            <a:r>
              <a:rPr lang="ru-RU" sz="3600">
                <a:latin typeface="Open Sans Extrabold"/>
                <a:cs typeface="Open Sans Extrabold"/>
              </a:rPr>
              <a:t>в промежуточном представлении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416075245" name="TextBox 1"/>
          <p:cNvSpPr txBox="1"/>
          <p:nvPr/>
        </p:nvSpPr>
        <p:spPr bwMode="auto">
          <a:xfrm flipH="0" flipV="0">
            <a:off x="303246" y="1426366"/>
            <a:ext cx="7157602" cy="3749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600" b="1" i="0" u="none">
                <a:solidFill>
                  <a:srgbClr val="997700"/>
                </a:solidFill>
                <a:latin typeface="Courier New"/>
                <a:ea typeface="Courier New"/>
                <a:cs typeface="Courier New"/>
              </a:rPr>
              <a:t>5: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</a:t>
            </a:r>
            <a:r>
              <a:rPr sz="1600" b="0" i="0" u="none">
                <a:solidFill>
                  <a:srgbClr val="888888"/>
                </a:solidFill>
                <a:latin typeface="Courier New"/>
                <a:ea typeface="Courier New"/>
                <a:cs typeface="Courier New"/>
              </a:rPr>
              <a:t>; preds = %0, %5</a:t>
            </a:r>
            <a:endParaRPr sz="1600" b="0" i="0" u="none">
              <a:solidFill>
                <a:srgbClr val="888888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31999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@b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load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and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4294967295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@b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load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fmul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5.000000e-01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@a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store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nsw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icmp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eq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32000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br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!llvm.loop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!13</a:t>
            </a:r>
            <a:endParaRPr sz="2600"/>
          </a:p>
        </p:txBody>
      </p:sp>
      <p:sp>
        <p:nvSpPr>
          <p:cNvPr id="672546237" name=""/>
          <p:cNvSpPr/>
          <p:nvPr/>
        </p:nvSpPr>
        <p:spPr bwMode="auto">
          <a:xfrm rot="0" flipH="0" flipV="0">
            <a:off x="590399" y="1944000"/>
            <a:ext cx="4665600" cy="273600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26134520" name=""/>
          <p:cNvSpPr txBox="1"/>
          <p:nvPr/>
        </p:nvSpPr>
        <p:spPr bwMode="auto">
          <a:xfrm rot="0" flipH="0" flipV="0">
            <a:off x="7891612" y="1521914"/>
            <a:ext cx="2682831" cy="36611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Переменная состояния</a:t>
            </a:r>
            <a:endParaRPr/>
          </a:p>
        </p:txBody>
      </p:sp>
      <p:cxnSp>
        <p:nvCxnSpPr>
          <p:cNvPr id="1585364948" name=""/>
          <p:cNvCxnSpPr>
            <a:stCxn id="1926134520" idx="1"/>
            <a:endCxn id="672546237" idx="3"/>
          </p:cNvCxnSpPr>
          <p:nvPr/>
        </p:nvCxnSpPr>
        <p:spPr bwMode="auto">
          <a:xfrm rot="10799990" flipH="0" flipV="1">
            <a:off x="5256000" y="1704974"/>
            <a:ext cx="2635612" cy="375824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3744615" name="TextBox 1765524423"/>
          <p:cNvSpPr txBox="1"/>
          <p:nvPr/>
        </p:nvSpPr>
        <p:spPr bwMode="auto">
          <a:xfrm>
            <a:off x="303246" y="226558"/>
            <a:ext cx="1167444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s291 </a:t>
            </a:r>
            <a:r>
              <a:rPr lang="ru-RU" sz="3600">
                <a:latin typeface="Open Sans Extrabold"/>
                <a:cs typeface="Open Sans Extrabold"/>
              </a:rPr>
              <a:t>в промежуточном представлении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332636483" name="TextBox 1"/>
          <p:cNvSpPr txBox="1"/>
          <p:nvPr/>
        </p:nvSpPr>
        <p:spPr bwMode="auto">
          <a:xfrm flipH="0" flipV="0">
            <a:off x="303246" y="1426366"/>
            <a:ext cx="7157602" cy="3749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600" b="1" i="0" u="none">
                <a:solidFill>
                  <a:srgbClr val="997700"/>
                </a:solidFill>
                <a:latin typeface="Courier New"/>
                <a:ea typeface="Courier New"/>
                <a:cs typeface="Courier New"/>
              </a:rPr>
              <a:t>5: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</a:t>
            </a:r>
            <a:r>
              <a:rPr sz="1600" b="0" i="0" u="none">
                <a:solidFill>
                  <a:srgbClr val="888888"/>
                </a:solidFill>
                <a:latin typeface="Courier New"/>
                <a:ea typeface="Courier New"/>
                <a:cs typeface="Courier New"/>
              </a:rPr>
              <a:t>; preds = %0, %5</a:t>
            </a:r>
            <a:endParaRPr sz="1600" b="0" i="0" u="none">
              <a:solidFill>
                <a:srgbClr val="888888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31999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@b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load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and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4294967295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@b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load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fmul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5.000000e-01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@a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store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nsw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icmp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eq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32000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br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!llvm.loop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!13</a:t>
            </a:r>
            <a:endParaRPr sz="2600"/>
          </a:p>
        </p:txBody>
      </p:sp>
      <p:sp>
        <p:nvSpPr>
          <p:cNvPr id="636523250" name=""/>
          <p:cNvSpPr/>
          <p:nvPr/>
        </p:nvSpPr>
        <p:spPr bwMode="auto">
          <a:xfrm rot="0" flipH="0" flipV="0">
            <a:off x="4064812" y="1944000"/>
            <a:ext cx="1191187" cy="273600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46124472" name=""/>
          <p:cNvSpPr txBox="1"/>
          <p:nvPr/>
        </p:nvSpPr>
        <p:spPr bwMode="auto">
          <a:xfrm rot="0" flipH="0" flipV="0">
            <a:off x="7891612" y="1521913"/>
            <a:ext cx="3044781" cy="64044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Напрямую зависит от индукционной переменной</a:t>
            </a:r>
            <a:endParaRPr/>
          </a:p>
        </p:txBody>
      </p:sp>
      <p:cxnSp>
        <p:nvCxnSpPr>
          <p:cNvPr id="973184237" name=""/>
          <p:cNvCxnSpPr>
            <a:stCxn id="1146124472" idx="1"/>
            <a:endCxn id="636523250" idx="3"/>
          </p:cNvCxnSpPr>
          <p:nvPr/>
        </p:nvCxnSpPr>
        <p:spPr bwMode="auto">
          <a:xfrm rot="10799990" flipH="0" flipV="1">
            <a:off x="5256000" y="1842133"/>
            <a:ext cx="2635612" cy="238665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3136164" name="TextBox 1765524423"/>
          <p:cNvSpPr txBox="1"/>
          <p:nvPr/>
        </p:nvSpPr>
        <p:spPr bwMode="auto">
          <a:xfrm>
            <a:off x="303246" y="226558"/>
            <a:ext cx="1167732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Проблема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639530590" name="TextBox 1"/>
          <p:cNvSpPr txBox="1"/>
          <p:nvPr/>
        </p:nvSpPr>
        <p:spPr bwMode="auto">
          <a:xfrm flipH="0" flipV="0">
            <a:off x="303246" y="1426367"/>
            <a:ext cx="10898644" cy="488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ru-RU" sz="2600"/>
              <a:t>Требуется определять наличие переменной состояния в цикле</a:t>
            </a:r>
            <a:endParaRPr sz="2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127262" name="TextBox 1765524423"/>
          <p:cNvSpPr txBox="1"/>
          <p:nvPr/>
        </p:nvSpPr>
        <p:spPr bwMode="auto">
          <a:xfrm>
            <a:off x="303246" y="226558"/>
            <a:ext cx="1167984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Решение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575883445" name="TextBox 1"/>
          <p:cNvSpPr txBox="1"/>
          <p:nvPr/>
        </p:nvSpPr>
        <p:spPr bwMode="auto">
          <a:xfrm flipH="0" flipV="0">
            <a:off x="303246" y="1426367"/>
            <a:ext cx="10956963" cy="1280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ru-RU" sz="2600"/>
              <a:t>Считать, что переменная состояния присутствует, если переменная в фи-узле берёт своё значение напрямую из индукционной переменной</a:t>
            </a:r>
            <a:endParaRPr sz="2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133153" name="TextBox 1765524423"/>
          <p:cNvSpPr txBox="1"/>
          <p:nvPr/>
        </p:nvSpPr>
        <p:spPr bwMode="auto">
          <a:xfrm>
            <a:off x="303246" y="226558"/>
            <a:ext cx="1168596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Ещё одна проблема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355570887" name="TextBox 1"/>
          <p:cNvSpPr txBox="1"/>
          <p:nvPr/>
        </p:nvSpPr>
        <p:spPr bwMode="auto">
          <a:xfrm flipH="0" flipV="0">
            <a:off x="303246" y="1426367"/>
            <a:ext cx="10977123" cy="488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ru-RU" sz="2600"/>
              <a:t>Это не будет работать для циклов такого вида:</a:t>
            </a:r>
            <a:endParaRPr sz="2600"/>
          </a:p>
        </p:txBody>
      </p:sp>
      <p:sp>
        <p:nvSpPr>
          <p:cNvPr id="2142670596" name=""/>
          <p:cNvSpPr txBox="1"/>
          <p:nvPr/>
        </p:nvSpPr>
        <p:spPr bwMode="auto">
          <a:xfrm rot="0" flipH="0" flipV="0">
            <a:off x="303246" y="2085975"/>
            <a:ext cx="6280572" cy="313979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s299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()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20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im1)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sz="20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3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9488692" name="TextBox 1765524423"/>
          <p:cNvSpPr txBox="1"/>
          <p:nvPr/>
        </p:nvSpPr>
        <p:spPr bwMode="auto">
          <a:xfrm>
            <a:off x="303246" y="226558"/>
            <a:ext cx="1168596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Ещё одна проблема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985526335" name="TextBox 1"/>
          <p:cNvSpPr txBox="1"/>
          <p:nvPr/>
        </p:nvSpPr>
        <p:spPr bwMode="auto">
          <a:xfrm flipH="0" flipV="0">
            <a:off x="303246" y="1426367"/>
            <a:ext cx="10977123" cy="488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ru-RU" sz="2600"/>
              <a:t>Это не будет работать для циклов такого вида:</a:t>
            </a:r>
            <a:endParaRPr sz="2600"/>
          </a:p>
        </p:txBody>
      </p:sp>
      <p:sp>
        <p:nvSpPr>
          <p:cNvPr id="1269868567" name=""/>
          <p:cNvSpPr txBox="1"/>
          <p:nvPr/>
        </p:nvSpPr>
        <p:spPr bwMode="auto">
          <a:xfrm rot="0" flipH="0" flipV="0">
            <a:off x="303246" y="2085975"/>
            <a:ext cx="6280571" cy="3139798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real_t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s299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()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initialise_arrays(__func__);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im1;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20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int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LEN_1D;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++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a[i]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(b[i]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im1)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(real_t)</a:t>
            </a:r>
            <a:r>
              <a:rPr sz="20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.5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im1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dummy(a,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e,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aa,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bb,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cc,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0.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20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20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calc_checksum(__func__);</a:t>
            </a:r>
            <a:endParaRPr sz="20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20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3600"/>
          </a:p>
        </p:txBody>
      </p:sp>
      <p:sp>
        <p:nvSpPr>
          <p:cNvPr id="104176474" name=""/>
          <p:cNvSpPr/>
          <p:nvPr/>
        </p:nvSpPr>
        <p:spPr bwMode="auto">
          <a:xfrm rot="0" flipH="0" flipV="0">
            <a:off x="3090767" y="3370367"/>
            <a:ext cx="959643" cy="273600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34439340" name=""/>
          <p:cNvSpPr txBox="1"/>
          <p:nvPr/>
        </p:nvSpPr>
        <p:spPr bwMode="auto">
          <a:xfrm rot="0" flipH="0" flipV="0">
            <a:off x="7393596" y="2407738"/>
            <a:ext cx="3222743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Переменная состояния используется в выражении (не индексирует массив)</a:t>
            </a:r>
            <a:endParaRPr/>
          </a:p>
        </p:txBody>
      </p:sp>
      <p:cxnSp>
        <p:nvCxnSpPr>
          <p:cNvPr id="154909959" name=""/>
          <p:cNvCxnSpPr>
            <a:stCxn id="1334439340" idx="1"/>
            <a:endCxn id="104176474" idx="3"/>
          </p:cNvCxnSpPr>
          <p:nvPr/>
        </p:nvCxnSpPr>
        <p:spPr bwMode="auto">
          <a:xfrm rot="10799990" flipH="0" flipV="1">
            <a:off x="4050410" y="2727958"/>
            <a:ext cx="3343185" cy="779208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408893" name="TextBox 1765524423"/>
          <p:cNvSpPr txBox="1"/>
          <p:nvPr/>
        </p:nvSpPr>
        <p:spPr bwMode="auto">
          <a:xfrm>
            <a:off x="303246" y="226558"/>
            <a:ext cx="1167516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s29</a:t>
            </a:r>
            <a:r>
              <a:rPr lang="ru-RU" sz="3600">
                <a:latin typeface="Open Sans Extrabold"/>
                <a:cs typeface="Open Sans Extrabold"/>
              </a:rPr>
              <a:t>9</a:t>
            </a:r>
            <a:r>
              <a:rPr lang="en-US" sz="3600">
                <a:latin typeface="Open Sans Extrabold"/>
                <a:cs typeface="Open Sans Extrabold"/>
              </a:rPr>
              <a:t> </a:t>
            </a:r>
            <a:r>
              <a:rPr lang="ru-RU" sz="3600">
                <a:latin typeface="Open Sans Extrabold"/>
                <a:cs typeface="Open Sans Extrabold"/>
              </a:rPr>
              <a:t>в промежуточном представлении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261511760" name="TextBox 1"/>
          <p:cNvSpPr txBox="1"/>
          <p:nvPr/>
        </p:nvSpPr>
        <p:spPr bwMode="auto">
          <a:xfrm flipH="0" flipV="0">
            <a:off x="303246" y="1426366"/>
            <a:ext cx="7169842" cy="42370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600" b="1" i="0" u="none">
                <a:solidFill>
                  <a:srgbClr val="997700"/>
                </a:solidFill>
                <a:latin typeface="Courier New"/>
                <a:ea typeface="Courier New"/>
                <a:cs typeface="Courier New"/>
              </a:rPr>
              <a:t>5: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</a:t>
            </a:r>
            <a:r>
              <a:rPr sz="1600" b="0" i="0" u="none">
                <a:solidFill>
                  <a:srgbClr val="888888"/>
                </a:solidFill>
                <a:latin typeface="Courier New"/>
                <a:ea typeface="Courier New"/>
                <a:cs typeface="Courier New"/>
              </a:rPr>
              <a:t>; preds = %0, %5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i32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31999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%18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@b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load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sitofp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i32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to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endParaRPr sz="1600" b="1" i="0" u="none">
              <a:solidFill>
                <a:srgbClr val="333399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fmul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5.000000e-01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@a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store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4294967295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shl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nsw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nsw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%18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trunc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to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i32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%19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icmp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eq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32000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br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%19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!llvm.loop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!23</a:t>
            </a:r>
            <a:endParaRPr sz="2600"/>
          </a:p>
        </p:txBody>
      </p:sp>
      <p:sp>
        <p:nvSpPr>
          <p:cNvPr id="952611938" name=""/>
          <p:cNvSpPr/>
          <p:nvPr/>
        </p:nvSpPr>
        <p:spPr bwMode="auto">
          <a:xfrm rot="0" flipH="0" flipV="0">
            <a:off x="4064812" y="1936057"/>
            <a:ext cx="1317786" cy="273600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92619173" name=""/>
          <p:cNvSpPr txBox="1"/>
          <p:nvPr/>
        </p:nvSpPr>
        <p:spPr bwMode="auto">
          <a:xfrm rot="0" flipH="0" flipV="0">
            <a:off x="7891614" y="1531438"/>
            <a:ext cx="3072141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Переменная состояния получает значение не из индукционной переменной</a:t>
            </a:r>
            <a:endParaRPr/>
          </a:p>
        </p:txBody>
      </p:sp>
      <p:cxnSp>
        <p:nvCxnSpPr>
          <p:cNvPr id="992616655" name=""/>
          <p:cNvCxnSpPr>
            <a:stCxn id="1992619173" idx="1"/>
            <a:endCxn id="952611938" idx="3"/>
          </p:cNvCxnSpPr>
          <p:nvPr/>
        </p:nvCxnSpPr>
        <p:spPr bwMode="auto">
          <a:xfrm rot="10799990" flipH="0" flipV="1">
            <a:off x="5382599" y="1851658"/>
            <a:ext cx="2509013" cy="221198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479765" name="TextBox 1765524423"/>
          <p:cNvSpPr txBox="1"/>
          <p:nvPr/>
        </p:nvSpPr>
        <p:spPr bwMode="auto">
          <a:xfrm>
            <a:off x="303246" y="226558"/>
            <a:ext cx="1167516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s29</a:t>
            </a:r>
            <a:r>
              <a:rPr lang="ru-RU" sz="3600">
                <a:latin typeface="Open Sans Extrabold"/>
                <a:cs typeface="Open Sans Extrabold"/>
              </a:rPr>
              <a:t>9</a:t>
            </a:r>
            <a:r>
              <a:rPr lang="en-US" sz="3600">
                <a:latin typeface="Open Sans Extrabold"/>
                <a:cs typeface="Open Sans Extrabold"/>
              </a:rPr>
              <a:t> </a:t>
            </a:r>
            <a:r>
              <a:rPr lang="ru-RU" sz="3600">
                <a:latin typeface="Open Sans Extrabold"/>
                <a:cs typeface="Open Sans Extrabold"/>
              </a:rPr>
              <a:t>в промежуточном представлении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091246630" name="TextBox 1"/>
          <p:cNvSpPr txBox="1"/>
          <p:nvPr/>
        </p:nvSpPr>
        <p:spPr bwMode="auto">
          <a:xfrm flipH="0" flipV="0">
            <a:off x="303246" y="1426366"/>
            <a:ext cx="7169842" cy="42370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600" b="1" i="0" u="none">
                <a:solidFill>
                  <a:srgbClr val="997700"/>
                </a:solidFill>
                <a:latin typeface="Courier New"/>
                <a:ea typeface="Courier New"/>
                <a:cs typeface="Courier New"/>
              </a:rPr>
              <a:t>5: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</a:t>
            </a:r>
            <a:r>
              <a:rPr sz="1600" b="0" i="0" u="none">
                <a:solidFill>
                  <a:srgbClr val="888888"/>
                </a:solidFill>
                <a:latin typeface="Courier New"/>
                <a:ea typeface="Courier New"/>
                <a:cs typeface="Courier New"/>
              </a:rPr>
              <a:t>; preds = %0, %5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i32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31999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[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%18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]</a:t>
            </a:r>
            <a:endParaRPr sz="16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@b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load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%8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sitofp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i32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to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endParaRPr sz="1600" b="1" i="0" u="none">
              <a:solidFill>
                <a:srgbClr val="333399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%9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%10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fmul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fast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%11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5.000000e-01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getelementptr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inbounds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DD7700"/>
                </a:solidFill>
                <a:latin typeface="Courier New"/>
                <a:ea typeface="Courier New"/>
                <a:cs typeface="Courier New"/>
              </a:rPr>
              <a:t>@a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store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float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ptr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%13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align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!tbaa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!9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4294967295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shl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nsw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%14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%15</a:t>
            </a:r>
            <a:endParaRPr sz="1600" b="0" i="0" u="none">
              <a:solidFill>
                <a:srgbClr val="9966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add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nuw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nsw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%6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1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%18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trunc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%16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to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i32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%19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icmp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eq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i64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%17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6600EE"/>
                </a:solidFill>
                <a:latin typeface="Courier New"/>
                <a:ea typeface="Courier New"/>
                <a:cs typeface="Courier New"/>
              </a:rPr>
              <a:t>32000</a:t>
            </a:r>
            <a:endParaRPr sz="1600" b="0" i="0" u="none">
              <a:solidFill>
                <a:srgbClr val="BBBBBB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6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br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i1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%19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%2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label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%5</a:t>
            </a:r>
            <a:r>
              <a:rPr sz="16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!llvm.loop</a:t>
            </a:r>
            <a:r>
              <a:rPr sz="16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0" i="0" u="none">
                <a:solidFill>
                  <a:srgbClr val="996633"/>
                </a:solidFill>
                <a:latin typeface="Courier New"/>
                <a:ea typeface="Courier New"/>
                <a:cs typeface="Courier New"/>
              </a:rPr>
              <a:t>!23</a:t>
            </a:r>
            <a:endParaRPr sz="2600"/>
          </a:p>
        </p:txBody>
      </p:sp>
      <p:sp>
        <p:nvSpPr>
          <p:cNvPr id="801288899" name=""/>
          <p:cNvSpPr/>
          <p:nvPr/>
        </p:nvSpPr>
        <p:spPr bwMode="auto">
          <a:xfrm rot="0" flipH="0" flipV="0">
            <a:off x="588187" y="4860232"/>
            <a:ext cx="3299979" cy="273600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41842874" name=""/>
          <p:cNvSpPr txBox="1"/>
          <p:nvPr/>
        </p:nvSpPr>
        <p:spPr bwMode="auto">
          <a:xfrm rot="0" flipH="0" flipV="0">
            <a:off x="8360156" y="3526974"/>
            <a:ext cx="3103461" cy="118907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Но всё ещё зависит от индукционной переменной через последовательность инструкций</a:t>
            </a:r>
            <a:endParaRPr/>
          </a:p>
        </p:txBody>
      </p:sp>
      <p:cxnSp>
        <p:nvCxnSpPr>
          <p:cNvPr id="1022024128" name=""/>
          <p:cNvCxnSpPr>
            <a:stCxn id="1141842874" idx="1"/>
            <a:endCxn id="801288899" idx="3"/>
          </p:cNvCxnSpPr>
          <p:nvPr/>
        </p:nvCxnSpPr>
        <p:spPr bwMode="auto">
          <a:xfrm rot="10799990" flipH="0" flipV="1">
            <a:off x="3888167" y="3984354"/>
            <a:ext cx="4471989" cy="1012678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621653" name=""/>
          <p:cNvSpPr/>
          <p:nvPr/>
        </p:nvSpPr>
        <p:spPr bwMode="auto">
          <a:xfrm rot="0" flipH="0" flipV="0">
            <a:off x="588187" y="4364932"/>
            <a:ext cx="2775111" cy="273600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5867840" name=""/>
          <p:cNvSpPr/>
          <p:nvPr/>
        </p:nvSpPr>
        <p:spPr bwMode="auto">
          <a:xfrm rot="0" flipH="0" flipV="0">
            <a:off x="588187" y="4091332"/>
            <a:ext cx="3365661" cy="273600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307875608" name=""/>
          <p:cNvCxnSpPr>
            <a:stCxn id="1141842874" idx="1"/>
            <a:endCxn id="319621653" idx="3"/>
          </p:cNvCxnSpPr>
          <p:nvPr/>
        </p:nvCxnSpPr>
        <p:spPr bwMode="auto">
          <a:xfrm rot="10799990" flipH="0" flipV="1">
            <a:off x="3363300" y="3984354"/>
            <a:ext cx="4996856" cy="517378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2067050" name=""/>
          <p:cNvCxnSpPr>
            <a:stCxn id="1141842874" idx="1"/>
            <a:endCxn id="185867840" idx="3"/>
          </p:cNvCxnSpPr>
          <p:nvPr/>
        </p:nvCxnSpPr>
        <p:spPr bwMode="auto">
          <a:xfrm rot="10799990" flipH="0" flipV="1">
            <a:off x="3953849" y="3984354"/>
            <a:ext cx="4406306" cy="243778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3745814" name="TextBox 1765524423"/>
          <p:cNvSpPr txBox="1"/>
          <p:nvPr/>
        </p:nvSpPr>
        <p:spPr bwMode="auto">
          <a:xfrm>
            <a:off x="303246" y="226558"/>
            <a:ext cx="1167984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Решение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836678881" name="TextBox 1"/>
          <p:cNvSpPr txBox="1"/>
          <p:nvPr/>
        </p:nvSpPr>
        <p:spPr bwMode="auto">
          <a:xfrm flipH="0" flipV="0">
            <a:off x="303246" y="1426367"/>
            <a:ext cx="11022483" cy="1280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ru-RU" sz="2600"/>
              <a:t>Просматривать последовательность инструкций, из которых переменная получает своё значение, предполагая, что в этой последовательности содержится индукционная переменная</a:t>
            </a:r>
            <a:endParaRPr sz="2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667261" name="TextBox 1765524423"/>
          <p:cNvSpPr txBox="1"/>
          <p:nvPr/>
        </p:nvSpPr>
        <p:spPr bwMode="auto">
          <a:xfrm>
            <a:off x="303246" y="226558"/>
            <a:ext cx="116938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LoopPeelWithStatePass::run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777407702" name="TextBox 1"/>
          <p:cNvSpPr txBox="1"/>
          <p:nvPr/>
        </p:nvSpPr>
        <p:spPr bwMode="auto">
          <a:xfrm flipH="0" flipV="0">
            <a:off x="303246" y="1321592"/>
            <a:ext cx="8655548" cy="329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LoopPeelWithStatePass::run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LoopAnalysisManager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AM,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LoopStandardAnalysisResults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LPMUpdater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U)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L.isLoopSimplifyForm()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||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L.getExitingBlock())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hasStateVariables(L))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ValueToValueMapTy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peelLoop(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AR.LI,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AR.SE,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AR.DT,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AR.AC,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none();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79160" name="TextBox 1765524423"/>
          <p:cNvSpPr txBox="1"/>
          <p:nvPr/>
        </p:nvSpPr>
        <p:spPr bwMode="auto">
          <a:xfrm>
            <a:off x="303246" y="226558"/>
            <a:ext cx="116938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LoopPeelWithStatePass::run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912675049" name="TextBox 1"/>
          <p:cNvSpPr txBox="1"/>
          <p:nvPr/>
        </p:nvSpPr>
        <p:spPr bwMode="auto">
          <a:xfrm flipH="0" flipV="0">
            <a:off x="303246" y="1321592"/>
            <a:ext cx="8655548" cy="329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LoopPeelWithStatePass::run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LoopAnalysisManager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AM,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LoopStandardAnalysisResults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LPMUpdater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U)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L.isLoopSimplifyForm()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||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L.getExitingBlock())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hasStateVariables(L))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ValueToValueMapTy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peelLoop(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AR.LI,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AR.SE,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AR.DT,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AR.AC,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none();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84803896" name=""/>
          <p:cNvSpPr/>
          <p:nvPr/>
        </p:nvSpPr>
        <p:spPr bwMode="auto">
          <a:xfrm rot="0" flipH="0" flipV="0">
            <a:off x="5074462" y="1354550"/>
            <a:ext cx="3651411" cy="674273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52131221" name=""/>
          <p:cNvSpPr txBox="1"/>
          <p:nvPr/>
        </p:nvSpPr>
        <p:spPr bwMode="auto">
          <a:xfrm rot="0" flipH="0" flipV="0">
            <a:off x="8187244" y="2838042"/>
            <a:ext cx="3084741" cy="36611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Пасс обрабатывает циклы</a:t>
            </a:r>
            <a:endParaRPr/>
          </a:p>
        </p:txBody>
      </p:sp>
      <p:cxnSp>
        <p:nvCxnSpPr>
          <p:cNvPr id="1286658834" name=""/>
          <p:cNvCxnSpPr>
            <a:stCxn id="452131221" idx="1"/>
            <a:endCxn id="484803896" idx="2"/>
          </p:cNvCxnSpPr>
          <p:nvPr/>
        </p:nvCxnSpPr>
        <p:spPr bwMode="auto">
          <a:xfrm rot="10799990" flipH="0" flipV="0">
            <a:off x="6900168" y="2028825"/>
            <a:ext cx="1287075" cy="992276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371214" name="TextBox 1765524423"/>
          <p:cNvSpPr txBox="1"/>
          <p:nvPr/>
        </p:nvSpPr>
        <p:spPr bwMode="auto">
          <a:xfrm>
            <a:off x="303246" y="226558"/>
            <a:ext cx="116938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LoopPeelWithStatePass::run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598022831" name="TextBox 1"/>
          <p:cNvSpPr txBox="1"/>
          <p:nvPr/>
        </p:nvSpPr>
        <p:spPr bwMode="auto">
          <a:xfrm flipH="0" flipV="0">
            <a:off x="303246" y="1321592"/>
            <a:ext cx="8655548" cy="329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LoopPeelWithStatePass::run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LoopAnalysisManager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AM,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LoopStandardAnalysisResults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LPMUpdater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U)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L.isLoopSimplifyForm()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||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L.getExitingBlock())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hasStateVariables(L))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ValueToValueMapTy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peelLoop(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AR.LI,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AR.SE,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AR.DT,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AR.AC,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none();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2086166654" name=""/>
          <p:cNvSpPr/>
          <p:nvPr/>
        </p:nvSpPr>
        <p:spPr bwMode="auto">
          <a:xfrm rot="0" flipH="0" flipV="0">
            <a:off x="559612" y="1964150"/>
            <a:ext cx="5613561" cy="493299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01791362" name=""/>
          <p:cNvSpPr txBox="1"/>
          <p:nvPr/>
        </p:nvSpPr>
        <p:spPr bwMode="auto">
          <a:xfrm rot="0" flipH="0" flipV="0">
            <a:off x="8187244" y="2838042"/>
            <a:ext cx="3107061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Условие, без которого </a:t>
            </a:r>
            <a:r>
              <a:rPr lang="ru-RU"/>
              <a:t>пилинг невозможен или небезопасен</a:t>
            </a:r>
            <a:endParaRPr/>
          </a:p>
        </p:txBody>
      </p:sp>
      <p:cxnSp>
        <p:nvCxnSpPr>
          <p:cNvPr id="328955387" name=""/>
          <p:cNvCxnSpPr>
            <a:stCxn id="401791362" idx="1"/>
            <a:endCxn id="2086166654" idx="3"/>
          </p:cNvCxnSpPr>
          <p:nvPr/>
        </p:nvCxnSpPr>
        <p:spPr bwMode="auto">
          <a:xfrm rot="10799990" flipH="0" flipV="0">
            <a:off x="6173174" y="2210800"/>
            <a:ext cx="2014070" cy="1084621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510442" name="TextBox 1765524423"/>
          <p:cNvSpPr txBox="1"/>
          <p:nvPr/>
        </p:nvSpPr>
        <p:spPr bwMode="auto">
          <a:xfrm>
            <a:off x="303246" y="226558"/>
            <a:ext cx="116938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LoopPeelWithStatePass::run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24140508" name="TextBox 1"/>
          <p:cNvSpPr txBox="1"/>
          <p:nvPr/>
        </p:nvSpPr>
        <p:spPr bwMode="auto">
          <a:xfrm flipH="0" flipV="0">
            <a:off x="303246" y="1321592"/>
            <a:ext cx="8655548" cy="329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LoopPeelWithStatePass::run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LoopAnalysisManager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AM,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LoopStandardAnalysisResults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LPMUpdater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U)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L.isLoopSimplifyForm()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||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L.getExitingBlock())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hasStateVariables(L))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ValueToValueMapTy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peelLoop(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AR.LI,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AR.SE,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AR.DT,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AR.AC,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none();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1854296378" name=""/>
          <p:cNvSpPr/>
          <p:nvPr/>
        </p:nvSpPr>
        <p:spPr bwMode="auto">
          <a:xfrm rot="0" flipH="0" flipV="0">
            <a:off x="559612" y="2628177"/>
            <a:ext cx="3727611" cy="493299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4900669" name=""/>
          <p:cNvSpPr txBox="1"/>
          <p:nvPr/>
        </p:nvSpPr>
        <p:spPr bwMode="auto">
          <a:xfrm rot="0" flipH="0" flipV="0">
            <a:off x="8187244" y="2838042"/>
            <a:ext cx="2730099" cy="64044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Проверка наличия переменных состояния</a:t>
            </a:r>
            <a:endParaRPr/>
          </a:p>
        </p:txBody>
      </p:sp>
      <p:cxnSp>
        <p:nvCxnSpPr>
          <p:cNvPr id="2076039269" name=""/>
          <p:cNvCxnSpPr>
            <a:stCxn id="104900669" idx="1"/>
            <a:endCxn id="1854296378" idx="3"/>
          </p:cNvCxnSpPr>
          <p:nvPr/>
        </p:nvCxnSpPr>
        <p:spPr bwMode="auto">
          <a:xfrm rot="10799990" flipH="0" flipV="0">
            <a:off x="4287224" y="2874827"/>
            <a:ext cx="3900020" cy="283434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3254048" name="TextBox 1765524423"/>
          <p:cNvSpPr txBox="1"/>
          <p:nvPr/>
        </p:nvSpPr>
        <p:spPr bwMode="auto">
          <a:xfrm>
            <a:off x="303246" y="226558"/>
            <a:ext cx="116946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hasStateVariables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331882271" name="TextBox 1"/>
          <p:cNvSpPr txBox="1"/>
          <p:nvPr/>
        </p:nvSpPr>
        <p:spPr bwMode="auto">
          <a:xfrm flipH="0" flipV="0">
            <a:off x="303246" y="1321592"/>
            <a:ext cx="8666708" cy="39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LoopPeelWithStatePass::hasStateVariables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L.getHeader();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L.getLoopLatch();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(PHINode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phis())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(Phi.getBasicBlockIndex(Latch)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continue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Phi.getIncomingValueForBlock(Latch);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&amp;&amp;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isDerivedFromIndVar(LatchValue,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7544298" name="TextBox 1765524423"/>
          <p:cNvSpPr txBox="1"/>
          <p:nvPr/>
        </p:nvSpPr>
        <p:spPr bwMode="auto">
          <a:xfrm>
            <a:off x="303246" y="226558"/>
            <a:ext cx="116946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hasStateVariables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919708747" name="TextBox 1"/>
          <p:cNvSpPr txBox="1"/>
          <p:nvPr/>
        </p:nvSpPr>
        <p:spPr bwMode="auto">
          <a:xfrm flipH="0" flipV="0">
            <a:off x="303246" y="1321592"/>
            <a:ext cx="8666708" cy="39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LoopPeelWithStatePass::hasStateVariables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L.getHeader();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L.getLoopLatch();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(PHINode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phis())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(Phi.getBasicBlockIndex(Latch)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continue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Phi.getIncomingValueForBlock(Latch);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&amp;&amp;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isDerivedFromIndVar(LatchValue,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1479218362" name=""/>
          <p:cNvSpPr/>
          <p:nvPr/>
        </p:nvSpPr>
        <p:spPr bwMode="auto">
          <a:xfrm rot="0" flipH="0" flipV="0">
            <a:off x="569137" y="1561376"/>
            <a:ext cx="3794285" cy="246648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38821310" name=""/>
          <p:cNvSpPr txBox="1"/>
          <p:nvPr/>
        </p:nvSpPr>
        <p:spPr bwMode="auto">
          <a:xfrm rot="0" flipH="0" flipV="0">
            <a:off x="7549070" y="1684701"/>
            <a:ext cx="3882624" cy="118907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en-US"/>
              <a:t>Header </a:t>
            </a:r>
            <a:r>
              <a:rPr lang="ru-RU"/>
              <a:t>— блок, который содержит фи-узлы, выбирающие значения в зависимости от предыдущего блока</a:t>
            </a:r>
            <a:endParaRPr/>
          </a:p>
        </p:txBody>
      </p:sp>
      <p:cxnSp>
        <p:nvCxnSpPr>
          <p:cNvPr id="513961375" name=""/>
          <p:cNvCxnSpPr>
            <a:stCxn id="1638821310" idx="1"/>
            <a:endCxn id="1479218362" idx="3"/>
          </p:cNvCxnSpPr>
          <p:nvPr/>
        </p:nvCxnSpPr>
        <p:spPr bwMode="auto">
          <a:xfrm rot="10799990" flipH="0" flipV="0">
            <a:off x="4363423" y="1684701"/>
            <a:ext cx="3185645" cy="594539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2526057" name="TextBox 1765524423"/>
          <p:cNvSpPr txBox="1"/>
          <p:nvPr/>
        </p:nvSpPr>
        <p:spPr bwMode="auto">
          <a:xfrm>
            <a:off x="303246" y="226558"/>
            <a:ext cx="116946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hasStateVariables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72641475" name="TextBox 1"/>
          <p:cNvSpPr txBox="1"/>
          <p:nvPr/>
        </p:nvSpPr>
        <p:spPr bwMode="auto">
          <a:xfrm flipH="0" flipV="0">
            <a:off x="303246" y="1321592"/>
            <a:ext cx="8668148" cy="39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LoopPeelWithStatePass::hasStateVariables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L.getHeader();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L.getLoopLatch();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(PHINode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phis())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(Phi.getBasicBlockIndex(Latch)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continue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Phi.getIncomingValueForBlock(Latch);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&amp;&amp;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isDerivedFromIndVar(LatchValue,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181324134" name=""/>
          <p:cNvSpPr/>
          <p:nvPr/>
        </p:nvSpPr>
        <p:spPr bwMode="auto">
          <a:xfrm rot="0" flipH="0" flipV="0">
            <a:off x="569137" y="1782947"/>
            <a:ext cx="4032411" cy="246647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11733667" name=""/>
          <p:cNvSpPr txBox="1"/>
          <p:nvPr/>
        </p:nvSpPr>
        <p:spPr bwMode="auto">
          <a:xfrm rot="0" flipH="0" flipV="0">
            <a:off x="7396669" y="1684700"/>
            <a:ext cx="4449501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en-US"/>
              <a:t>Latch </a:t>
            </a:r>
            <a:r>
              <a:rPr lang="ru-RU"/>
              <a:t>— блок, в котором обновляются значения некоторых переменных, например индукционной</a:t>
            </a:r>
            <a:endParaRPr/>
          </a:p>
        </p:txBody>
      </p:sp>
      <p:cxnSp>
        <p:nvCxnSpPr>
          <p:cNvPr id="525081950" name=""/>
          <p:cNvCxnSpPr>
            <a:stCxn id="1711733667" idx="1"/>
            <a:endCxn id="181324134" idx="3"/>
          </p:cNvCxnSpPr>
          <p:nvPr/>
        </p:nvCxnSpPr>
        <p:spPr bwMode="auto">
          <a:xfrm rot="10799990" flipH="0" flipV="0">
            <a:off x="4601549" y="1906271"/>
            <a:ext cx="2795119" cy="235809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6699649" name="TextBox 1765524423"/>
          <p:cNvSpPr txBox="1"/>
          <p:nvPr/>
        </p:nvSpPr>
        <p:spPr bwMode="auto">
          <a:xfrm>
            <a:off x="303246" y="226558"/>
            <a:ext cx="116946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hasStateVariables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339579391" name="TextBox 1"/>
          <p:cNvSpPr txBox="1"/>
          <p:nvPr/>
        </p:nvSpPr>
        <p:spPr bwMode="auto">
          <a:xfrm flipH="0" flipV="0">
            <a:off x="303246" y="1321592"/>
            <a:ext cx="8666708" cy="39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LoopPeelWithStatePass::hasStateVariables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L.getHeader();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L.getLoopLatch();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(PHINode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phis())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(Phi.getBasicBlockIndex(Latch)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continue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Phi.getIncomingValueForBlock(Latch);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&amp;&amp;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isDerivedFromIndVar(LatchValue,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351034892" name=""/>
          <p:cNvSpPr/>
          <p:nvPr/>
        </p:nvSpPr>
        <p:spPr bwMode="auto">
          <a:xfrm rot="0" flipH="0" flipV="0">
            <a:off x="569137" y="1581149"/>
            <a:ext cx="4032410" cy="448444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88020323" name=""/>
          <p:cNvSpPr txBox="1"/>
          <p:nvPr/>
        </p:nvSpPr>
        <p:spPr bwMode="auto">
          <a:xfrm rot="0" flipH="0" flipV="0">
            <a:off x="7396669" y="1684699"/>
            <a:ext cx="4475781" cy="64044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ru-RU"/>
              <a:t>В исследуемых циклах </a:t>
            </a:r>
            <a:r>
              <a:rPr lang="en-US"/>
              <a:t>Header </a:t>
            </a:r>
            <a:r>
              <a:rPr lang="ru-RU"/>
              <a:t>и </a:t>
            </a:r>
            <a:r>
              <a:rPr lang="en-US"/>
              <a:t>Latch </a:t>
            </a:r>
            <a:r>
              <a:rPr lang="ru-RU"/>
              <a:t>представлены одним блоком</a:t>
            </a:r>
            <a:endParaRPr/>
          </a:p>
        </p:txBody>
      </p:sp>
      <p:cxnSp>
        <p:nvCxnSpPr>
          <p:cNvPr id="570478472" name=""/>
          <p:cNvCxnSpPr>
            <a:stCxn id="1388020323" idx="1"/>
            <a:endCxn id="351034892" idx="3"/>
          </p:cNvCxnSpPr>
          <p:nvPr/>
        </p:nvCxnSpPr>
        <p:spPr bwMode="auto">
          <a:xfrm rot="10799990" flipH="0" flipV="0">
            <a:off x="4601548" y="1805372"/>
            <a:ext cx="2795121" cy="199547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360553" name="TextBox 1765524423"/>
          <p:cNvSpPr txBox="1"/>
          <p:nvPr/>
        </p:nvSpPr>
        <p:spPr bwMode="auto">
          <a:xfrm>
            <a:off x="303246" y="226558"/>
            <a:ext cx="116946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hasStateVariables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2024578307" name="TextBox 1"/>
          <p:cNvSpPr txBox="1"/>
          <p:nvPr/>
        </p:nvSpPr>
        <p:spPr bwMode="auto">
          <a:xfrm flipH="0" flipV="0">
            <a:off x="303246" y="1321592"/>
            <a:ext cx="8667428" cy="39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LoopPeelWithStatePass::hasStateVariables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L.getHeader();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L.getLoopLatch();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(PHINode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phis())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(Phi.getBasicBlockIndex(Latch)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continue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Phi.getIncomingValueForBlock(Latch);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&amp;&amp;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isDerivedFromIndVar(LatchValue,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362831664" name=""/>
          <p:cNvSpPr/>
          <p:nvPr/>
        </p:nvSpPr>
        <p:spPr bwMode="auto">
          <a:xfrm rot="0" flipH="0" flipV="0">
            <a:off x="569137" y="2200275"/>
            <a:ext cx="5382346" cy="276224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48845654" name=""/>
          <p:cNvSpPr txBox="1"/>
          <p:nvPr/>
        </p:nvSpPr>
        <p:spPr bwMode="auto">
          <a:xfrm rot="0" flipH="0" flipV="0">
            <a:off x="7396669" y="1684699"/>
            <a:ext cx="4507101" cy="64044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ru-RU"/>
              <a:t>Получение значения канонической индукционной переменной цикла</a:t>
            </a:r>
            <a:endParaRPr/>
          </a:p>
        </p:txBody>
      </p:sp>
      <p:cxnSp>
        <p:nvCxnSpPr>
          <p:cNvPr id="1652505765" name=""/>
          <p:cNvCxnSpPr>
            <a:stCxn id="748845654" idx="1"/>
            <a:endCxn id="362831664" idx="3"/>
          </p:cNvCxnSpPr>
          <p:nvPr/>
        </p:nvCxnSpPr>
        <p:spPr bwMode="auto">
          <a:xfrm rot="10799990" flipH="0" flipV="1">
            <a:off x="5951484" y="2004919"/>
            <a:ext cx="1445185" cy="333467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6660239" name="TextBox 1765524423"/>
          <p:cNvSpPr txBox="1"/>
          <p:nvPr/>
        </p:nvSpPr>
        <p:spPr bwMode="auto">
          <a:xfrm>
            <a:off x="303246" y="226558"/>
            <a:ext cx="116946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hasStateVariables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277434171" name="TextBox 1"/>
          <p:cNvSpPr txBox="1"/>
          <p:nvPr/>
        </p:nvSpPr>
        <p:spPr bwMode="auto">
          <a:xfrm flipH="0" flipV="0">
            <a:off x="303246" y="1321592"/>
            <a:ext cx="8666708" cy="39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LoopPeelWithStatePass::hasStateVariables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L.getHeader();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L.getLoopLatch();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(PHINode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phis())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(Phi.getBasicBlockIndex(Latch)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continue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Phi.getIncomingValueForBlock(Latch);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&amp;&amp;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isDerivedFromIndVar(LatchValue,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1684762390" name=""/>
          <p:cNvSpPr/>
          <p:nvPr/>
        </p:nvSpPr>
        <p:spPr bwMode="auto">
          <a:xfrm rot="0" flipH="0" flipV="0">
            <a:off x="569137" y="2609849"/>
            <a:ext cx="3794286" cy="276223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36604717" name=""/>
          <p:cNvSpPr txBox="1"/>
          <p:nvPr/>
        </p:nvSpPr>
        <p:spPr bwMode="auto">
          <a:xfrm rot="0" flipH="0" flipV="0">
            <a:off x="7396669" y="1684699"/>
            <a:ext cx="4520061" cy="64044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ru-RU"/>
              <a:t>Цикл проходится по всем фи-узлам </a:t>
            </a:r>
            <a:r>
              <a:rPr lang="ru-RU"/>
              <a:t>блока </a:t>
            </a:r>
            <a:r>
              <a:rPr lang="en-US"/>
              <a:t>header</a:t>
            </a:r>
            <a:endParaRPr/>
          </a:p>
        </p:txBody>
      </p:sp>
      <p:cxnSp>
        <p:nvCxnSpPr>
          <p:cNvPr id="1882834640" name=""/>
          <p:cNvCxnSpPr>
            <a:stCxn id="2036604717" idx="1"/>
            <a:endCxn id="1684762390" idx="3"/>
          </p:cNvCxnSpPr>
          <p:nvPr/>
        </p:nvCxnSpPr>
        <p:spPr bwMode="auto">
          <a:xfrm rot="10799990" flipH="0" flipV="1">
            <a:off x="4363425" y="2004919"/>
            <a:ext cx="3033244" cy="743041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974906" name="TextBox 1765524423"/>
          <p:cNvSpPr txBox="1"/>
          <p:nvPr/>
        </p:nvSpPr>
        <p:spPr bwMode="auto">
          <a:xfrm>
            <a:off x="303246" y="226558"/>
            <a:ext cx="116946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hasStateVariables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26027677" name="TextBox 1"/>
          <p:cNvSpPr txBox="1"/>
          <p:nvPr/>
        </p:nvSpPr>
        <p:spPr bwMode="auto">
          <a:xfrm flipH="0" flipV="0">
            <a:off x="303246" y="1321592"/>
            <a:ext cx="8666708" cy="39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LoopPeelWithStatePass::hasStateVariables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L.getHeader();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L.getLoopLatch();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(PHINode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phis())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(Phi.getBasicBlockIndex(Latch)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continue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Phi.getIncomingValueForBlock(Latch);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&amp;&amp;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isDerivedFromIndVar(LatchValue,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1235030871" name=""/>
          <p:cNvSpPr/>
          <p:nvPr/>
        </p:nvSpPr>
        <p:spPr bwMode="auto">
          <a:xfrm rot="0" flipH="0" flipV="0">
            <a:off x="807262" y="2847974"/>
            <a:ext cx="4070511" cy="439757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18308463" name=""/>
          <p:cNvSpPr txBox="1"/>
          <p:nvPr/>
        </p:nvSpPr>
        <p:spPr bwMode="auto">
          <a:xfrm rot="0" flipH="0" flipV="0">
            <a:off x="7396669" y="1684699"/>
            <a:ext cx="4575141" cy="64044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ru-RU"/>
              <a:t>Цикл пропускает значения, которые не обновляются на каждой итерации</a:t>
            </a:r>
            <a:endParaRPr/>
          </a:p>
        </p:txBody>
      </p:sp>
      <p:cxnSp>
        <p:nvCxnSpPr>
          <p:cNvPr id="1944228877" name=""/>
          <p:cNvCxnSpPr>
            <a:stCxn id="1718308463" idx="1"/>
            <a:endCxn id="1235030871" idx="3"/>
          </p:cNvCxnSpPr>
          <p:nvPr/>
        </p:nvCxnSpPr>
        <p:spPr bwMode="auto">
          <a:xfrm rot="10799990" flipH="0" flipV="1">
            <a:off x="4877774" y="2004919"/>
            <a:ext cx="2518894" cy="1062933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902401" name="TextBox 1765524423"/>
          <p:cNvSpPr txBox="1"/>
          <p:nvPr/>
        </p:nvSpPr>
        <p:spPr bwMode="auto">
          <a:xfrm>
            <a:off x="303246" y="226558"/>
            <a:ext cx="116946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hasStateVariables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641759315" name="TextBox 1"/>
          <p:cNvSpPr txBox="1"/>
          <p:nvPr/>
        </p:nvSpPr>
        <p:spPr bwMode="auto">
          <a:xfrm flipH="0" flipV="0">
            <a:off x="303246" y="1321592"/>
            <a:ext cx="8666708" cy="39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LoopPeelWithStatePass::hasStateVariables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L.getHeader();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L.getLoopLatch();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(PHINode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phis())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(Phi.getBasicBlockIndex(Latch)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continue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Phi.getIncomingValueForBlock(Latch);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&amp;&amp;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isDerivedFromIndVar(LatchValue,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1030932554" name=""/>
          <p:cNvSpPr/>
          <p:nvPr/>
        </p:nvSpPr>
        <p:spPr bwMode="auto">
          <a:xfrm rot="0" flipH="0" flipV="0">
            <a:off x="807262" y="3476624"/>
            <a:ext cx="6013611" cy="266699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60815103" name=""/>
          <p:cNvSpPr txBox="1"/>
          <p:nvPr/>
        </p:nvSpPr>
        <p:spPr bwMode="auto">
          <a:xfrm rot="0" flipH="0" flipV="0">
            <a:off x="7346509" y="2487227"/>
            <a:ext cx="4600341" cy="64044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ru-RU"/>
              <a:t>Значение, которое фи-узел выбирает, если предыдущим блоком был </a:t>
            </a:r>
            <a:r>
              <a:rPr lang="en-US"/>
              <a:t>latch</a:t>
            </a:r>
            <a:endParaRPr/>
          </a:p>
        </p:txBody>
      </p:sp>
      <p:cxnSp>
        <p:nvCxnSpPr>
          <p:cNvPr id="565585002" name=""/>
          <p:cNvCxnSpPr>
            <a:stCxn id="460815103" idx="1"/>
            <a:endCxn id="1030932554" idx="3"/>
          </p:cNvCxnSpPr>
          <p:nvPr/>
        </p:nvCxnSpPr>
        <p:spPr bwMode="auto">
          <a:xfrm rot="10799990" flipH="0" flipV="1">
            <a:off x="6820875" y="2807447"/>
            <a:ext cx="525634" cy="802527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12485" name="TextBox 1765524423"/>
          <p:cNvSpPr txBox="1"/>
          <p:nvPr/>
        </p:nvSpPr>
        <p:spPr bwMode="auto">
          <a:xfrm>
            <a:off x="303246" y="226558"/>
            <a:ext cx="116946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en-US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hasStateVariables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144016282" name="TextBox 1"/>
          <p:cNvSpPr txBox="1"/>
          <p:nvPr/>
        </p:nvSpPr>
        <p:spPr bwMode="auto">
          <a:xfrm flipH="0" flipV="0">
            <a:off x="303246" y="1321592"/>
            <a:ext cx="8666708" cy="3932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LoopPeelWithStatePass::hasStateVariables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L.getHeader();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BasicBlock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L.getLoopLatch();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(PHINode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Header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phis())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(Phi.getBasicBlockIndex(Latch)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continue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LatchValue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Phi.getIncomingValueForBlock(Latch);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Phi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&amp;&amp;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isDerivedFromIndVar(LatchValue,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859428573" name=""/>
          <p:cNvSpPr/>
          <p:nvPr/>
        </p:nvSpPr>
        <p:spPr bwMode="auto">
          <a:xfrm rot="0" flipH="0" flipV="0">
            <a:off x="759637" y="3877888"/>
            <a:ext cx="6443997" cy="266698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71394856" name=""/>
          <p:cNvSpPr txBox="1"/>
          <p:nvPr/>
        </p:nvSpPr>
        <p:spPr bwMode="auto">
          <a:xfrm rot="0" flipH="0" flipV="0">
            <a:off x="5046339" y="4933651"/>
            <a:ext cx="4637061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ru-RU"/>
              <a:t>Проверка зависимости переменной от индукционной, только если это не сама индукционная переменная</a:t>
            </a:r>
            <a:endParaRPr/>
          </a:p>
        </p:txBody>
      </p:sp>
      <p:cxnSp>
        <p:nvCxnSpPr>
          <p:cNvPr id="702067031" name=""/>
          <p:cNvCxnSpPr>
            <a:stCxn id="1971394856" idx="1"/>
            <a:endCxn id="859428573" idx="2"/>
          </p:cNvCxnSpPr>
          <p:nvPr/>
        </p:nvCxnSpPr>
        <p:spPr bwMode="auto">
          <a:xfrm rot="10799990" flipH="0" flipV="0">
            <a:off x="3981636" y="4144587"/>
            <a:ext cx="1064702" cy="1246444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0245986" name="TextBox 1765524423"/>
          <p:cNvSpPr txBox="1"/>
          <p:nvPr/>
        </p:nvSpPr>
        <p:spPr bwMode="auto">
          <a:xfrm>
            <a:off x="303246" y="226558"/>
            <a:ext cx="1169532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ru-RU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isDerivedFromIndVar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714402964" name="TextBox 1"/>
          <p:cNvSpPr txBox="1"/>
          <p:nvPr/>
        </p:nvSpPr>
        <p:spPr bwMode="auto">
          <a:xfrm flipH="0" flipV="0">
            <a:off x="303246" y="1321592"/>
            <a:ext cx="8678228" cy="4145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LoopPeelWithStatePass::isDerivedFromIndVar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||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(DerivedValue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while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auto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dyn_cast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Instruction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CI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getOperand(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613832" name="TextBox 1765524423"/>
          <p:cNvSpPr txBox="1"/>
          <p:nvPr/>
        </p:nvSpPr>
        <p:spPr bwMode="auto">
          <a:xfrm>
            <a:off x="303246" y="226558"/>
            <a:ext cx="1169532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ru-RU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isDerivedFromIndVar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83960673" name="TextBox 1"/>
          <p:cNvSpPr txBox="1"/>
          <p:nvPr/>
        </p:nvSpPr>
        <p:spPr bwMode="auto">
          <a:xfrm flipH="0" flipV="0">
            <a:off x="303246" y="1321592"/>
            <a:ext cx="8678228" cy="41456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LoopPeelWithStatePass::isDerivedFromIndVar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||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(DerivedValue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while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auto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dyn_cast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Instruction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CI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getOperand(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376401299" name=""/>
          <p:cNvSpPr/>
          <p:nvPr/>
        </p:nvSpPr>
        <p:spPr bwMode="auto">
          <a:xfrm rot="0" flipH="0" flipV="0">
            <a:off x="546158" y="2382462"/>
            <a:ext cx="2969540" cy="266698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07483753" name=""/>
          <p:cNvSpPr txBox="1"/>
          <p:nvPr/>
        </p:nvSpPr>
        <p:spPr bwMode="auto">
          <a:xfrm rot="0" flipH="0" flipV="0">
            <a:off x="5147184" y="2191781"/>
            <a:ext cx="4682781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ru-RU"/>
              <a:t>Оптимистичная проверка, получает ли переменная состояния своё значение напрямую из индукционной переменной</a:t>
            </a:r>
            <a:endParaRPr/>
          </a:p>
        </p:txBody>
      </p:sp>
      <p:cxnSp>
        <p:nvCxnSpPr>
          <p:cNvPr id="213925701" name=""/>
          <p:cNvCxnSpPr>
            <a:stCxn id="1907483753" idx="1"/>
            <a:endCxn id="376401299" idx="3"/>
          </p:cNvCxnSpPr>
          <p:nvPr/>
        </p:nvCxnSpPr>
        <p:spPr bwMode="auto">
          <a:xfrm rot="10799990" flipH="0" flipV="0">
            <a:off x="3515699" y="2515812"/>
            <a:ext cx="1631485" cy="133349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031151" name="TextBox 1765524423"/>
          <p:cNvSpPr txBox="1"/>
          <p:nvPr/>
        </p:nvSpPr>
        <p:spPr bwMode="auto">
          <a:xfrm>
            <a:off x="303246" y="226558"/>
            <a:ext cx="1169532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ru-RU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isDerivedFromIndVar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672916847" name="TextBox 1"/>
          <p:cNvSpPr txBox="1"/>
          <p:nvPr/>
        </p:nvSpPr>
        <p:spPr bwMode="auto">
          <a:xfrm flipH="0" flipV="0">
            <a:off x="303246" y="1321592"/>
            <a:ext cx="8678228" cy="41456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LoopPeelWithStatePass::isDerivedFromIndVar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||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(DerivedValue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while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auto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dyn_cast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Instruction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CI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getOperand(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173087650" name=""/>
          <p:cNvSpPr/>
          <p:nvPr/>
        </p:nvSpPr>
        <p:spPr bwMode="auto">
          <a:xfrm rot="0" flipH="0" flipV="0">
            <a:off x="546158" y="3049212"/>
            <a:ext cx="4884065" cy="1770436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11151674" name=""/>
          <p:cNvSpPr txBox="1"/>
          <p:nvPr/>
        </p:nvSpPr>
        <p:spPr bwMode="auto">
          <a:xfrm rot="0" flipH="0" flipV="0">
            <a:off x="6290184" y="2429906"/>
            <a:ext cx="3836584" cy="64044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ru-RU"/>
              <a:t>«Раскрутка» последовательности инструкций</a:t>
            </a:r>
            <a:endParaRPr/>
          </a:p>
        </p:txBody>
      </p:sp>
      <p:cxnSp>
        <p:nvCxnSpPr>
          <p:cNvPr id="994843567" name=""/>
          <p:cNvCxnSpPr>
            <a:stCxn id="1311151674" idx="1"/>
            <a:endCxn id="173087650" idx="3"/>
          </p:cNvCxnSpPr>
          <p:nvPr/>
        </p:nvCxnSpPr>
        <p:spPr bwMode="auto">
          <a:xfrm rot="10799990" flipH="0" flipV="1">
            <a:off x="5430224" y="2750126"/>
            <a:ext cx="859960" cy="1184304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9794396" name="TextBox 1765524423"/>
          <p:cNvSpPr txBox="1"/>
          <p:nvPr/>
        </p:nvSpPr>
        <p:spPr bwMode="auto">
          <a:xfrm>
            <a:off x="303246" y="226558"/>
            <a:ext cx="1169532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</a:t>
            </a:r>
            <a:r>
              <a:rPr lang="ru-RU" sz="3600" b="0" i="0" u="none" strike="noStrike" cap="none" spc="0">
                <a:solidFill>
                  <a:schemeClr val="tx1"/>
                </a:solidFill>
                <a:latin typeface="Open Sans Extrabold"/>
                <a:ea typeface="Open Sans Extrabold"/>
                <a:cs typeface="Open Sans Extrabold"/>
              </a:rPr>
              <a:t>isDerivedFromIndVar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30203413" name="TextBox 1"/>
          <p:cNvSpPr txBox="1"/>
          <p:nvPr/>
        </p:nvSpPr>
        <p:spPr bwMode="auto">
          <a:xfrm flipH="0" flipV="0">
            <a:off x="303246" y="1321592"/>
            <a:ext cx="8678228" cy="41456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1" i="0" u="none">
                <a:solidFill>
                  <a:srgbClr val="333399"/>
                </a:solidFill>
                <a:latin typeface="Courier New"/>
                <a:ea typeface="Courier New"/>
                <a:cs typeface="Courier New"/>
              </a:rPr>
              <a:t>bool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LoopPeelWithStatePass::isDerivedFromIndVar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L.getCanonicalInductionVariable();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||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(DerivedValue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DerivedValue;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while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auto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*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CI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dyn_cast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&lt;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Instruction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(V))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CI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-&gt;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getOperand(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(V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IndVar)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2400"/>
          </a:p>
        </p:txBody>
      </p:sp>
      <p:sp>
        <p:nvSpPr>
          <p:cNvPr id="456641330" name=""/>
          <p:cNvSpPr/>
          <p:nvPr/>
        </p:nvSpPr>
        <p:spPr bwMode="auto">
          <a:xfrm rot="0" flipH="0" flipV="0">
            <a:off x="781953" y="4116012"/>
            <a:ext cx="1762196" cy="475036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71890321" name=""/>
          <p:cNvSpPr txBox="1"/>
          <p:nvPr/>
        </p:nvSpPr>
        <p:spPr bwMode="auto">
          <a:xfrm rot="0" flipH="0" flipV="0">
            <a:off x="6004434" y="3611006"/>
            <a:ext cx="4750984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lang="ru-RU"/>
              <a:t>Если в последовательности встретилась индукционная переменная, значит зависимость есть</a:t>
            </a:r>
            <a:endParaRPr/>
          </a:p>
        </p:txBody>
      </p:sp>
      <p:cxnSp>
        <p:nvCxnSpPr>
          <p:cNvPr id="1363611076" name=""/>
          <p:cNvCxnSpPr>
            <a:stCxn id="671890321" idx="1"/>
            <a:endCxn id="456641330" idx="3"/>
          </p:cNvCxnSpPr>
          <p:nvPr/>
        </p:nvCxnSpPr>
        <p:spPr bwMode="auto">
          <a:xfrm rot="10799990" flipH="0" flipV="1">
            <a:off x="2544149" y="4068386"/>
            <a:ext cx="3460285" cy="285144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4092263" name="TextBox 1765524423"/>
          <p:cNvSpPr txBox="1"/>
          <p:nvPr/>
        </p:nvSpPr>
        <p:spPr bwMode="auto">
          <a:xfrm>
            <a:off x="303246" y="226558"/>
            <a:ext cx="116938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3600">
                <a:latin typeface="Open Sans Extrabold"/>
                <a:cs typeface="Open Sans Extrabold"/>
              </a:rPr>
              <a:t>LoopPeelWithStatePass::run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816849609" name="TextBox 1"/>
          <p:cNvSpPr txBox="1"/>
          <p:nvPr/>
        </p:nvSpPr>
        <p:spPr bwMode="auto">
          <a:xfrm flipH="0" flipV="0">
            <a:off x="303246" y="1321592"/>
            <a:ext cx="8655548" cy="3292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66BB"/>
                </a:solidFill>
                <a:latin typeface="Courier New"/>
                <a:ea typeface="Courier New"/>
                <a:cs typeface="Courier New"/>
              </a:rPr>
              <a:t>LoopPeelWithStatePass::run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(Loop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LoopAnalysisManager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AM,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LoopStandardAnalysisResults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AR,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                                       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LPMUpdater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U)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{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L.isLoopSimplifyForm()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||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L.getExitingBlock())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hasStateVariables(L))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ValueToValueMapTy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!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peelLoop(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L,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1" i="0" u="none">
                <a:solidFill>
                  <a:srgbClr val="0000DD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false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AR.LI,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AR.SE,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AR.DT,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&amp;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AR.AC,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007020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VM))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all();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sz="1400" b="1" i="0" u="none">
                <a:solidFill>
                  <a:srgbClr val="008800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400" b="0" i="0" u="none">
                <a:solidFill>
                  <a:srgbClr val="BBBBBB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PreservedAnalyses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::</a:t>
            </a: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none();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  <a:p>
            <a:pPr>
              <a:defRPr/>
            </a:pPr>
            <a:r>
              <a:rPr sz="1400" b="0" i="0" u="none">
                <a:solidFill>
                  <a:srgbClr val="333333"/>
                </a:solidFill>
                <a:latin typeface="Courier New"/>
                <a:ea typeface="Courier New"/>
                <a:cs typeface="Courier New"/>
              </a:rPr>
              <a:t>}</a:t>
            </a:r>
            <a:endParaRPr sz="1400" b="0" i="0" u="none">
              <a:solidFill>
                <a:srgbClr val="333333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1376400991" name=""/>
          <p:cNvSpPr/>
          <p:nvPr/>
        </p:nvSpPr>
        <p:spPr bwMode="auto">
          <a:xfrm rot="0" flipH="0" flipV="0">
            <a:off x="559612" y="3485426"/>
            <a:ext cx="7423311" cy="493299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22418613" name=""/>
          <p:cNvSpPr txBox="1"/>
          <p:nvPr/>
        </p:nvSpPr>
        <p:spPr bwMode="auto">
          <a:xfrm rot="0" flipH="0" flipV="0">
            <a:off x="6981680" y="2052932"/>
            <a:ext cx="3430839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Если переменная состояния была найдена, то происходит вынос первой итерации цикла</a:t>
            </a:r>
            <a:endParaRPr/>
          </a:p>
        </p:txBody>
      </p:sp>
      <p:cxnSp>
        <p:nvCxnSpPr>
          <p:cNvPr id="1846852371" name=""/>
          <p:cNvCxnSpPr>
            <a:stCxn id="222418613" idx="1"/>
            <a:endCxn id="1376400991" idx="0"/>
          </p:cNvCxnSpPr>
          <p:nvPr/>
        </p:nvCxnSpPr>
        <p:spPr bwMode="auto">
          <a:xfrm rot="10799990" flipH="0" flipV="1">
            <a:off x="4271268" y="2510312"/>
            <a:ext cx="2710411" cy="975114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166477" name="TextBox 1765524423"/>
          <p:cNvSpPr txBox="1"/>
          <p:nvPr/>
        </p:nvSpPr>
        <p:spPr bwMode="auto">
          <a:xfrm>
            <a:off x="303246" y="226558"/>
            <a:ext cx="1170972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Компиляция тестов</a:t>
            </a:r>
            <a:endParaRPr sz="3600">
              <a:latin typeface="Open Sans Extrabold"/>
              <a:cs typeface="Open Sans Extrabold"/>
            </a:endParaRPr>
          </a:p>
        </p:txBody>
      </p:sp>
      <p:graphicFrame>
        <p:nvGraphicFramePr>
          <p:cNvPr id="453641891" name=""/>
          <p:cNvGraphicFramePr>
            <a:graphicFrameLocks xmlns:a="http://schemas.openxmlformats.org/drawingml/2006/main"/>
          </p:cNvGraphicFramePr>
          <p:nvPr/>
        </p:nvGraphicFramePr>
        <p:xfrm>
          <a:off x="303246" y="1771649"/>
          <a:ext cx="11563349" cy="257301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950000"/>
                <a:gridCol w="6600649"/>
              </a:tblGrid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b="1"/>
                        <a:t>Условия компиляции</a:t>
                      </a:r>
                      <a:endParaRPr b="1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Опции компиляции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ru-RU"/>
                        <a:t>clang version 22.0.0git</a:t>
                      </a:r>
                      <a:r>
                        <a:rPr lang="en-US"/>
                        <a:t> </a:t>
                      </a:r>
                      <a:r>
                        <a:rPr lang="en-US"/>
                        <a:t>(</a:t>
                      </a:r>
                      <a:r>
                        <a:rPr lang="ru-RU"/>
                        <a:t>без векторизации</a:t>
                      </a:r>
                      <a:r>
                        <a:rPr lang="en-US"/>
                        <a:t>)</a:t>
                      </a:r>
                      <a:endParaRPr lang="ru-RU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ru-RU">
                          <a:latin typeface="Courier New"/>
                          <a:ea typeface="Courier New"/>
                          <a:cs typeface="Courier New"/>
                        </a:rPr>
                        <a:t>-static -O3 -fstrict-aliasing -march=rv64gcvb</a:t>
                      </a:r>
                      <a:endParaRPr>
                        <a:latin typeface="Courier New"/>
                        <a:cs typeface="Courier New"/>
                      </a:endParaRPr>
                    </a:p>
                    <a:p>
                      <a:pPr>
                        <a:defRPr/>
                      </a:pPr>
                      <a:r>
                        <a:rPr lang="ru-RU">
                          <a:latin typeface="Courier New"/>
                          <a:ea typeface="Courier New"/>
                          <a:cs typeface="Courier New"/>
                        </a:rPr>
                        <a:t>-ffast-math -fno-vectorize</a:t>
                      </a:r>
                      <a:endParaRPr>
                        <a:latin typeface="Courier New"/>
                        <a:cs typeface="Courier New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ru-RU"/>
                        <a:t>clang version 22.0.0git (векторизация)</a:t>
                      </a:r>
                      <a:endParaRPr lang="ru-RU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ru-RU">
                          <a:latin typeface="Courier New"/>
                          <a:ea typeface="Courier New"/>
                          <a:cs typeface="Courier New"/>
                        </a:rPr>
                        <a:t>-static -O3 -fstrict-aliasing -march=rv64gcvb</a:t>
                      </a:r>
                      <a:endParaRPr>
                        <a:latin typeface="Courier New"/>
                        <a:cs typeface="Courier New"/>
                      </a:endParaRPr>
                    </a:p>
                    <a:p>
                      <a:pPr>
                        <a:defRPr/>
                      </a:pPr>
                      <a:r>
                        <a:rPr lang="ru-RU">
                          <a:latin typeface="Courier New"/>
                          <a:ea typeface="Courier New"/>
                          <a:cs typeface="Courier New"/>
                        </a:rPr>
                        <a:t>-ffast-math -fvectorize -fslp-vectorize</a:t>
                      </a:r>
                      <a:endParaRPr>
                        <a:latin typeface="Courier New"/>
                        <a:cs typeface="Courier New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ru-RU"/>
                        <a:t>clang version 22.0.0git (векторизация) + </a:t>
                      </a:r>
                      <a:r>
                        <a:rPr lang="en-US"/>
                        <a:t>LoopPeelWithStatePass</a:t>
                      </a:r>
                      <a:endParaRPr lang="ru-RU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ru-RU">
                          <a:latin typeface="Courier New"/>
                          <a:ea typeface="Courier New"/>
                          <a:cs typeface="Courier New"/>
                        </a:rPr>
                        <a:t>-static -O3 -fstrict-aliasing -march=rv64gcvb</a:t>
                      </a:r>
                      <a:endParaRPr>
                        <a:latin typeface="Courier New"/>
                        <a:cs typeface="Courier New"/>
                      </a:endParaRPr>
                    </a:p>
                    <a:p>
                      <a:pPr>
                        <a:defRPr/>
                      </a:pPr>
                      <a:r>
                        <a:rPr lang="ru-RU">
                          <a:latin typeface="Courier New"/>
                          <a:ea typeface="Courier New"/>
                          <a:cs typeface="Courier New"/>
                        </a:rPr>
                        <a:t>-ffast-math -fpass-plugin=LoopPeelWithState.so</a:t>
                      </a:r>
                      <a:endParaRPr>
                        <a:latin typeface="Courier New"/>
                        <a:cs typeface="Courier New"/>
                      </a:endParaRPr>
                    </a:p>
                    <a:p>
                      <a:pPr>
                        <a:defRPr/>
                      </a:pPr>
                      <a:r>
                        <a:rPr lang="ru-RU">
                          <a:latin typeface="Courier New"/>
                          <a:ea typeface="Courier New"/>
                          <a:cs typeface="Courier New"/>
                        </a:rPr>
                        <a:t>-fvectorize -fslp-vectorize</a:t>
                      </a:r>
                      <a:endParaRPr>
                        <a:latin typeface="Courier New"/>
                        <a:cs typeface="Courier New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29022" name="TextBox 1765524423"/>
          <p:cNvSpPr txBox="1"/>
          <p:nvPr/>
        </p:nvSpPr>
        <p:spPr bwMode="auto">
          <a:xfrm>
            <a:off x="303246" y="226558"/>
            <a:ext cx="116982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Эксперименты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1694907060" name="TextBox 1"/>
          <p:cNvSpPr txBox="1"/>
          <p:nvPr/>
        </p:nvSpPr>
        <p:spPr bwMode="auto">
          <a:xfrm flipH="0" flipV="0">
            <a:off x="303246" y="1845695"/>
            <a:ext cx="6805538" cy="24692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71994" indent="-371994" algn="just">
              <a:buFont typeface="Arial"/>
              <a:buChar char="•"/>
              <a:defRPr/>
            </a:pPr>
            <a:r>
              <a:rPr lang="ru-RU" sz="2600"/>
              <a:t>Эксперименты проводились на кластере, содержащем 2 узла, построенных на базе </a:t>
            </a:r>
            <a:r>
              <a:rPr lang="en-US" sz="2600" b="1"/>
              <a:t>Banana Pi BPI-F3</a:t>
            </a:r>
            <a:r>
              <a:rPr lang="en-US" sz="2600"/>
              <a:t>;</a:t>
            </a:r>
            <a:endParaRPr lang="en-US" sz="2600"/>
          </a:p>
          <a:p>
            <a:pPr marL="371994" indent="-371994" algn="just">
              <a:buFont typeface="Arial"/>
              <a:buChar char="•"/>
              <a:defRPr/>
            </a:pPr>
            <a:endParaRPr lang="en-US" sz="2600"/>
          </a:p>
          <a:p>
            <a:pPr marL="371994" indent="-371994" algn="just">
              <a:buFont typeface="Arial"/>
              <a:buChar char="•"/>
              <a:defRPr/>
            </a:pPr>
            <a:r>
              <a:rPr lang="ru-RU" sz="2600"/>
              <a:t>Вычисления в циклах производились над типом данных </a:t>
            </a:r>
            <a:r>
              <a:rPr lang="en-US" sz="2600" b="1"/>
              <a:t>float</a:t>
            </a:r>
            <a:endParaRPr lang="en-US" sz="2600"/>
          </a:p>
        </p:txBody>
      </p:sp>
      <p:grpSp>
        <p:nvGrpSpPr>
          <p:cNvPr id="1300407465" name=""/>
          <p:cNvGrpSpPr/>
          <p:nvPr/>
        </p:nvGrpSpPr>
        <p:grpSpPr bwMode="auto">
          <a:xfrm>
            <a:off x="7480299" y="1158552"/>
            <a:ext cx="4215599" cy="4612594"/>
            <a:chOff x="0" y="0"/>
            <a:chExt cx="4215599" cy="4612594"/>
          </a:xfrm>
        </p:grpSpPr>
        <p:sp modelId="{4624D6E4-AF26-41F4-92A0-4DB16E9CFD38}">
          <p:nvSpPr>
            <p:cNvPr id="1014027899" name=""/>
            <p:cNvSpPr/>
            <p:nvPr/>
          </p:nvSpPr>
          <p:spPr bwMode="auto">
            <a:xfrm rot="0" flipH="0" flipV="0">
              <a:off x="0" y="549686"/>
              <a:ext cx="4215599" cy="621385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</a:schemeClr>
            </a:solidFill>
            <a:ln w="12700" cap="flat" cmpd="sng" algn="ctr">
              <a:solidFill>
                <a:schemeClr val="lt1">
                  <a:hueOff val="0"/>
                  <a:satOff val="0"/>
                  <a:lumOff val="0"/>
                  <a:alphaOff val="0"/>
                </a:schemeClr>
              </a:solidFill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99059" tIns="99059" rIns="99059" bIns="99059" numCol="1" spcCol="1269" rtlCol="0" fromWordArt="0" anchor="ctr" anchorCtr="0" forceAA="0" upright="0" compatLnSpc="0">
              <a:noAutofit/>
            </a:bodyPr>
            <a:lstStyle/>
            <a:p>
              <a:pPr marL="0" lvl="0" indent="0" algn="l" defTabSz="2222499">
                <a:lnSpc>
                  <a:spcPct val="90000"/>
                </a:lnSpc>
                <a:spcBef>
                  <a:spcPts val="0"/>
                </a:spcBef>
                <a:spcAft>
                  <a:spcPts val="1091"/>
                </a:spcAft>
                <a:buNone/>
                <a:defRPr/>
              </a:pPr>
              <a:r>
                <a:rPr lang="en-US" sz="2600"/>
                <a:t>CPU</a:t>
              </a:r>
              <a:endParaRPr sz="2600"/>
            </a:p>
          </p:txBody>
        </p:sp>
        <p:sp modelId="{F695D027-8084-4944-BD52-82085E494DD3}">
          <p:nvSpPr>
            <p:cNvPr id="254385653" name=""/>
            <p:cNvSpPr/>
            <p:nvPr/>
          </p:nvSpPr>
          <p:spPr bwMode="auto">
            <a:xfrm rot="0" flipH="0" flipV="0">
              <a:off x="0" y="1171072"/>
              <a:ext cx="4215599" cy="549687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spcFirstLastPara="0" vertOverflow="overflow" horzOverflow="overflow" vert="horz" wrap="square" lIns="211744" tIns="52102" rIns="291774" bIns="52102" numCol="1" spcCol="1269" rtlCol="0" fromWordArt="0" anchor="t" anchorCtr="0" forceAA="0" upright="0" compatLnSpc="0">
              <a:noAutofit/>
            </a:bodyPr>
            <a:lstStyle/>
            <a:p>
              <a:pPr marL="285750" lvl="1" indent="-285750" algn="l" defTabSz="1733549">
                <a:lnSpc>
                  <a:spcPct val="90000"/>
                </a:lnSpc>
                <a:spcBef>
                  <a:spcPts val="0"/>
                </a:spcBef>
                <a:spcAft>
                  <a:spcPts val="575"/>
                </a:spcAft>
                <a:buChar char="•"/>
                <a:defRPr/>
              </a:pPr>
              <a:r>
                <a:rPr lang="en-US" sz="2800"/>
                <a:t>SpacemiT K1</a:t>
              </a:r>
              <a:endParaRPr lang="en-US" sz="2800"/>
            </a:p>
          </p:txBody>
        </p:sp>
        <p:sp modelId="{74DE461E-4A85-423B-9789-EBE3CD520FEF}">
          <p:nvSpPr>
            <p:cNvPr id="1033782034" name=""/>
            <p:cNvSpPr/>
            <p:nvPr/>
          </p:nvSpPr>
          <p:spPr bwMode="auto">
            <a:xfrm rot="0" flipH="0" flipV="0">
              <a:off x="0" y="2270447"/>
              <a:ext cx="4215599" cy="621385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</a:schemeClr>
            </a:solidFill>
            <a:ln w="12700" cap="flat" cmpd="sng" algn="ctr">
              <a:solidFill>
                <a:schemeClr val="lt1">
                  <a:hueOff val="0"/>
                  <a:satOff val="0"/>
                  <a:lumOff val="0"/>
                  <a:alphaOff val="0"/>
                </a:schemeClr>
              </a:solidFill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99059" tIns="99059" rIns="99059" bIns="99059" numCol="1" spcCol="1269" rtlCol="0" fromWordArt="0" anchor="ctr" anchorCtr="0" forceAA="0" upright="0" compatLnSpc="0">
              <a:noAutofit/>
            </a:bodyPr>
            <a:lstStyle/>
            <a:p>
              <a:pPr marL="0" lvl="0" indent="0" algn="l" defTabSz="2222499">
                <a:lnSpc>
                  <a:spcPct val="90000"/>
                </a:lnSpc>
                <a:spcBef>
                  <a:spcPts val="0"/>
                </a:spcBef>
                <a:spcAft>
                  <a:spcPts val="1091"/>
                </a:spcAft>
                <a:buNone/>
                <a:defRPr/>
              </a:pPr>
              <a:r>
                <a:rPr lang="en-US" sz="2600"/>
                <a:t>RAM</a:t>
              </a:r>
              <a:endParaRPr sz="2600"/>
            </a:p>
          </p:txBody>
        </p:sp>
        <p:sp modelId="{CDD5E6BB-89AD-4B77-BF2C-0D6BC47AFD2D}">
          <p:nvSpPr>
            <p:cNvPr id="1190910973" name=""/>
            <p:cNvSpPr/>
            <p:nvPr/>
          </p:nvSpPr>
          <p:spPr bwMode="auto">
            <a:xfrm rot="0" flipH="0" flipV="0">
              <a:off x="0" y="2891833"/>
              <a:ext cx="4215599" cy="549687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spcFirstLastPara="0" vertOverflow="overflow" horzOverflow="overflow" vert="horz" wrap="square" lIns="211744" tIns="52102" rIns="291774" bIns="52102" numCol="1" spcCol="1269" rtlCol="0" fromWordArt="0" anchor="t" anchorCtr="0" forceAA="0" upright="0" compatLnSpc="0">
              <a:noAutofit/>
            </a:bodyPr>
            <a:lstStyle/>
            <a:p>
              <a:pPr marL="285750" lvl="1" indent="-285750" algn="l" defTabSz="1733549">
                <a:lnSpc>
                  <a:spcPct val="90000"/>
                </a:lnSpc>
                <a:spcBef>
                  <a:spcPts val="0"/>
                </a:spcBef>
                <a:spcAft>
                  <a:spcPts val="575"/>
                </a:spcAft>
                <a:buChar char="•"/>
                <a:defRPr/>
              </a:pPr>
              <a:r>
                <a:rPr lang="en-US" sz="2800"/>
                <a:t>4 GiB LPDDR4</a:t>
              </a:r>
              <a:endParaRPr sz="2800"/>
            </a:p>
          </p:txBody>
        </p:sp>
        <p:sp modelId="{74DE461E-4A85-423B-9789-EBE3CD520FEF}">
          <p:nvSpPr>
            <p:cNvPr id="1723641832" name=""/>
            <p:cNvSpPr/>
            <p:nvPr/>
          </p:nvSpPr>
          <p:spPr bwMode="auto">
            <a:xfrm rot="0" flipH="0" flipV="0">
              <a:off x="0" y="3441521"/>
              <a:ext cx="4215598" cy="621385"/>
            </a:xfrm>
            <a:prstGeom prst="roundRect">
              <a:avLst>
                <a:gd name="adj" fmla="val 16667"/>
              </a:avLst>
            </a:prstGeom>
            <a:solidFill>
              <a:schemeClr val="accent1">
                <a:hueOff val="0"/>
                <a:satOff val="0"/>
                <a:lumOff val="0"/>
                <a:alphaOff val="0"/>
              </a:schemeClr>
            </a:solidFill>
            <a:ln w="12700" cap="flat" cmpd="sng" algn="ctr">
              <a:solidFill>
                <a:schemeClr val="lt1">
                  <a:hueOff val="0"/>
                  <a:satOff val="0"/>
                  <a:lumOff val="0"/>
                  <a:alphaOff val="0"/>
                </a:schemeClr>
              </a:solidFill>
              <a:prstDash val="solid"/>
              <a:miter lim="800000"/>
            </a:ln>
            <a:effectLst/>
          </p:spPr>
          <p:style>
            <a:lnRef idx="2">
              <a:srgbClr val="000000"/>
            </a:lnRef>
            <a:fillRef idx="1">
              <a:srgbClr val="000000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spcFirstLastPara="0" vertOverflow="overflow" horzOverflow="overflow" vert="horz" wrap="square" lIns="99059" tIns="99059" rIns="99059" bIns="99059" numCol="1" spcCol="1269" rtlCol="0" fromWordArt="0" anchor="ctr" anchorCtr="0" forceAA="0" upright="0" compatLnSpc="0">
              <a:noAutofit/>
            </a:bodyPr>
            <a:lstStyle/>
            <a:p>
              <a:pPr marL="0" lvl="0" indent="0" algn="l" defTabSz="2222499">
                <a:lnSpc>
                  <a:spcPct val="90000"/>
                </a:lnSpc>
                <a:spcBef>
                  <a:spcPts val="0"/>
                </a:spcBef>
                <a:spcAft>
                  <a:spcPts val="1090"/>
                </a:spcAft>
                <a:buNone/>
                <a:defRPr/>
              </a:pPr>
              <a:r>
                <a:rPr lang="en-US" sz="2600"/>
                <a:t>RVV 1.0</a:t>
              </a:r>
              <a:endParaRPr sz="2600"/>
            </a:p>
          </p:txBody>
        </p:sp>
        <p:sp modelId="{F695D027-8084-4944-BD52-82085E494DD3}">
          <p:nvSpPr>
            <p:cNvPr id="625784810" name=""/>
            <p:cNvSpPr/>
            <p:nvPr/>
          </p:nvSpPr>
          <p:spPr bwMode="auto">
            <a:xfrm rot="0" flipH="0" flipV="0">
              <a:off x="0" y="0"/>
              <a:ext cx="4215598" cy="549686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spcFirstLastPara="0" vertOverflow="overflow" horzOverflow="overflow" vert="horz" wrap="square" lIns="211743" tIns="52101" rIns="291773" bIns="52101" numCol="1" spcCol="1269" rtlCol="0" fromWordArt="0" anchor="t" anchorCtr="0" forceAA="0" upright="0" compatLnSpc="0">
              <a:noAutofit/>
            </a:bodyPr>
            <a:lstStyle/>
            <a:p>
              <a:pPr marL="0" lvl="1" algn="ctr" defTabSz="1733549">
                <a:lnSpc>
                  <a:spcPct val="90000"/>
                </a:lnSpc>
                <a:spcBef>
                  <a:spcPts val="0"/>
                </a:spcBef>
                <a:spcAft>
                  <a:spcPts val="574"/>
                </a:spcAft>
                <a:defRPr/>
              </a:pPr>
              <a:r>
                <a:rPr lang="en-US" sz="3200" b="1"/>
                <a:t>Banana Pi BPI-F3</a:t>
              </a:r>
              <a:endParaRPr sz="3200" b="1"/>
            </a:p>
          </p:txBody>
        </p:sp>
        <p:sp modelId="{CDD5E6BB-89AD-4B77-BF2C-0D6BC47AFD2D}">
          <p:nvSpPr>
            <p:cNvPr id="437915474" name=""/>
            <p:cNvSpPr/>
            <p:nvPr/>
          </p:nvSpPr>
          <p:spPr bwMode="auto">
            <a:xfrm rot="0" flipH="0" flipV="0">
              <a:off x="0" y="4062907"/>
              <a:ext cx="4215598" cy="549686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spcFirstLastPara="0" vertOverflow="overflow" horzOverflow="overflow" vert="horz" wrap="square" lIns="211743" tIns="52101" rIns="291773" bIns="52101" numCol="1" spcCol="1269" rtlCol="0" fromWordArt="0" anchor="t" anchorCtr="0" forceAA="0" upright="0" compatLnSpc="0">
              <a:noAutofit/>
            </a:bodyPr>
            <a:lstStyle/>
            <a:p>
              <a:pPr marL="284400" lvl="1" indent="-284400" algn="l" defTabSz="1733549">
                <a:lnSpc>
                  <a:spcPct val="90000"/>
                </a:lnSpc>
                <a:spcBef>
                  <a:spcPts val="0"/>
                </a:spcBef>
                <a:spcAft>
                  <a:spcPts val="574"/>
                </a:spcAft>
                <a:buChar char="•"/>
                <a:defRPr/>
              </a:pPr>
              <a:r>
                <a:rPr lang="en-US" sz="2800"/>
                <a:t>VLEN 256</a:t>
              </a:r>
              <a:endParaRPr sz="2800"/>
            </a:p>
          </p:txBody>
        </p:sp>
        <p:sp modelId="{F695D027-8084-4944-BD52-82085E494DD3}">
          <p:nvSpPr>
            <p:cNvPr id="1014538166" name=""/>
            <p:cNvSpPr/>
            <p:nvPr/>
          </p:nvSpPr>
          <p:spPr bwMode="auto">
            <a:xfrm rot="0" flipH="0" flipV="0">
              <a:off x="0" y="1720760"/>
              <a:ext cx="4215598" cy="549686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spcFirstLastPara="0" vertOverflow="overflow" horzOverflow="overflow" vert="horz" wrap="square" lIns="211743" tIns="52101" rIns="291773" bIns="52101" numCol="1" spcCol="1269" rtlCol="0" fromWordArt="0" anchor="t" anchorCtr="0" forceAA="0" upright="0" compatLnSpc="0">
              <a:noAutofit/>
            </a:bodyPr>
            <a:lstStyle/>
            <a:p>
              <a:pPr marL="284400" lvl="1" indent="-284400" algn="l" defTabSz="1733549">
                <a:lnSpc>
                  <a:spcPct val="90000"/>
                </a:lnSpc>
                <a:spcBef>
                  <a:spcPts val="0"/>
                </a:spcBef>
                <a:spcAft>
                  <a:spcPts val="574"/>
                </a:spcAft>
                <a:buChar char="•"/>
                <a:defRPr/>
              </a:pPr>
              <a:r>
                <a:rPr lang="en-US" sz="2800"/>
                <a:t>8 </a:t>
              </a:r>
              <a:r>
                <a:rPr lang="ru-RU" sz="2800"/>
                <a:t>ядер </a:t>
              </a:r>
              <a:r>
                <a:rPr lang="en-US" sz="2800"/>
                <a:t>RV64GCVB</a:t>
              </a:r>
              <a:endParaRPr lang="en-US" sz="28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5511090" name="TextBox 1765524423"/>
          <p:cNvSpPr txBox="1"/>
          <p:nvPr/>
        </p:nvSpPr>
        <p:spPr bwMode="auto">
          <a:xfrm>
            <a:off x="303246" y="226558"/>
            <a:ext cx="117046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Результаты</a:t>
            </a:r>
            <a:endParaRPr sz="3600">
              <a:latin typeface="Open Sans Extrabold"/>
              <a:cs typeface="Open Sans Extrabold"/>
            </a:endParaRPr>
          </a:p>
        </p:txBody>
      </p:sp>
      <p:sp>
        <p:nvSpPr>
          <p:cNvPr id="984698345" name="TextBox 1"/>
          <p:cNvSpPr txBox="1"/>
          <p:nvPr/>
        </p:nvSpPr>
        <p:spPr bwMode="auto">
          <a:xfrm flipH="0" flipV="0">
            <a:off x="303246" y="923564"/>
            <a:ext cx="11435438" cy="2560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ru-RU"/>
              <a:t>Обозначения, используемые в таблицах:</a:t>
            </a:r>
            <a:endParaRPr/>
          </a:p>
          <a:p>
            <a:pPr marL="872524" indent="-283879" algn="just">
              <a:buFont typeface="Arial"/>
              <a:buChar char="•"/>
              <a:defRPr/>
            </a:pPr>
            <a:r>
              <a:rPr lang="en-US" b="1"/>
              <a:t>Theoretical S</a:t>
            </a:r>
            <a:r>
              <a:rPr lang="en-US"/>
              <a:t> – </a:t>
            </a:r>
            <a:r>
              <a:rPr lang="ru-RU"/>
              <a:t>теоретическое ускорение, полученное на основе анализа промежуточного представления и равное размеру вектора в промежуточном представлении. Значение, равное единице, означает то, что цикл не был векторизован;</a:t>
            </a:r>
            <a:endParaRPr lang="ru-RU"/>
          </a:p>
          <a:p>
            <a:pPr marL="872524" indent="-283879" algn="just">
              <a:buFont typeface="Arial"/>
              <a:buChar char="•"/>
              <a:defRPr/>
            </a:pPr>
            <a:r>
              <a:rPr lang="en-US" b="1"/>
              <a:t>Theoretical S w plug</a:t>
            </a:r>
            <a:r>
              <a:rPr lang="en-US"/>
              <a:t> </a:t>
            </a:r>
            <a:r>
              <a:rPr lang="ru-RU"/>
              <a:t>– то же, что и </a:t>
            </a:r>
            <a:r>
              <a:rPr lang="en-US" b="1"/>
              <a:t>Theoretical S</a:t>
            </a:r>
            <a:r>
              <a:rPr lang="ru-RU"/>
              <a:t>, но при компиляции с пассом </a:t>
            </a:r>
            <a:r>
              <a:rPr lang="en-US" b="1"/>
              <a:t>LoopPeelWithState</a:t>
            </a:r>
            <a:r>
              <a:rPr lang="en-US"/>
              <a:t>;</a:t>
            </a:r>
            <a:endParaRPr/>
          </a:p>
          <a:p>
            <a:pPr marL="872524" indent="-283879" algn="just">
              <a:buFont typeface="Arial"/>
              <a:buChar char="•"/>
              <a:defRPr/>
            </a:pPr>
            <a:r>
              <a:rPr lang="en-US" b="1"/>
              <a:t>Clang</a:t>
            </a:r>
            <a:r>
              <a:rPr lang="en-US"/>
              <a:t> – </a:t>
            </a:r>
            <a:r>
              <a:rPr lang="ru-RU"/>
              <a:t>ускорение, полученное при компиляции с помощью </a:t>
            </a:r>
            <a:r>
              <a:rPr lang="ru-RU" b="1"/>
              <a:t>clang version 22.0.0git</a:t>
            </a:r>
            <a:r>
              <a:rPr lang="en-US"/>
              <a:t>;</a:t>
            </a:r>
            <a:endParaRPr lang="en-US"/>
          </a:p>
          <a:p>
            <a:pPr marL="872524" indent="-283879" algn="just">
              <a:buFont typeface="Arial"/>
              <a:buChar char="•"/>
              <a:defRPr/>
            </a:pPr>
            <a:r>
              <a:rPr lang="en-US" b="1"/>
              <a:t>Clang w plug</a:t>
            </a:r>
            <a:r>
              <a:rPr lang="en-US"/>
              <a:t> – </a:t>
            </a:r>
            <a:r>
              <a:rPr lang="ru-RU"/>
              <a:t>то же, что и </a:t>
            </a:r>
            <a:r>
              <a:rPr lang="en-US" b="1"/>
              <a:t>Clang</a:t>
            </a:r>
            <a:r>
              <a:rPr lang="ru-RU"/>
              <a:t>, но компиляция была произведена с применением пасса </a:t>
            </a:r>
            <a:r>
              <a:rPr lang="en-US" b="1"/>
              <a:t>LoopPeelWithState</a:t>
            </a:r>
            <a:r>
              <a:rPr lang="ru-RU"/>
              <a:t>.</a:t>
            </a:r>
            <a:endParaRPr/>
          </a:p>
        </p:txBody>
      </p:sp>
      <p:pic>
        <p:nvPicPr>
          <p:cNvPr id="494209042" name="Рисунок 49420904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0" y="3430800"/>
            <a:ext cx="6094800" cy="1080000"/>
          </a:xfrm>
          <a:prstGeom prst="rect">
            <a:avLst/>
          </a:prstGeom>
        </p:spPr>
      </p:pic>
      <p:pic>
        <p:nvPicPr>
          <p:cNvPr id="25484328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6095999" y="3430800"/>
            <a:ext cx="6094800" cy="1080000"/>
          </a:xfrm>
          <a:prstGeom prst="rect">
            <a:avLst/>
          </a:prstGeom>
        </p:spPr>
      </p:pic>
      <p:pic>
        <p:nvPicPr>
          <p:cNvPr id="156126915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1199" y="4510800"/>
            <a:ext cx="6094800" cy="1080000"/>
          </a:xfrm>
          <a:prstGeom prst="rect">
            <a:avLst/>
          </a:prstGeom>
        </p:spPr>
      </p:pic>
      <p:pic>
        <p:nvPicPr>
          <p:cNvPr id="1056874201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6095999" y="4510800"/>
            <a:ext cx="6094800" cy="1080000"/>
          </a:xfrm>
          <a:prstGeom prst="rect">
            <a:avLst/>
          </a:prstGeom>
        </p:spPr>
      </p:pic>
      <p:pic>
        <p:nvPicPr>
          <p:cNvPr id="701543828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0" y="5590800"/>
            <a:ext cx="5425199" cy="108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368452" name="TextBox 1765524423"/>
          <p:cNvSpPr txBox="1"/>
          <p:nvPr/>
        </p:nvSpPr>
        <p:spPr bwMode="auto">
          <a:xfrm>
            <a:off x="303246" y="226558"/>
            <a:ext cx="1170468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3600">
                <a:latin typeface="Open Sans Extrabold"/>
                <a:cs typeface="Open Sans Extrabold"/>
              </a:rPr>
              <a:t>Результаты</a:t>
            </a:r>
            <a:endParaRPr sz="3600">
              <a:latin typeface="Open Sans Extrabold"/>
              <a:cs typeface="Open Sans Extrabold"/>
            </a:endParaRPr>
          </a:p>
        </p:txBody>
      </p:sp>
      <p:pic>
        <p:nvPicPr>
          <p:cNvPr id="41079515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1199" y="3429000"/>
            <a:ext cx="12199758" cy="2161800"/>
          </a:xfrm>
          <a:prstGeom prst="rect">
            <a:avLst/>
          </a:prstGeom>
        </p:spPr>
      </p:pic>
      <p:sp>
        <p:nvSpPr>
          <p:cNvPr id="1724918308" name=""/>
          <p:cNvSpPr/>
          <p:nvPr/>
        </p:nvSpPr>
        <p:spPr bwMode="auto">
          <a:xfrm rot="0" flipH="0" flipV="0">
            <a:off x="8411549" y="3502093"/>
            <a:ext cx="676274" cy="2022406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33347931" name=""/>
          <p:cNvSpPr txBox="1"/>
          <p:nvPr/>
        </p:nvSpPr>
        <p:spPr bwMode="auto">
          <a:xfrm rot="0" flipH="0" flipV="0">
            <a:off x="5963625" y="1288549"/>
            <a:ext cx="5183759" cy="91476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Использование пасса позволило успешно векторизовать циклы с сопутствующим увеличением производительности</a:t>
            </a:r>
            <a:endParaRPr/>
          </a:p>
        </p:txBody>
      </p:sp>
      <p:cxnSp>
        <p:nvCxnSpPr>
          <p:cNvPr id="183300093" name=""/>
          <p:cNvCxnSpPr>
            <a:stCxn id="333347931" idx="2"/>
            <a:endCxn id="1724918308" idx="0"/>
          </p:cNvCxnSpPr>
          <p:nvPr/>
        </p:nvCxnSpPr>
        <p:spPr bwMode="auto">
          <a:xfrm rot="5399978" flipH="0" flipV="1">
            <a:off x="8003203" y="2755609"/>
            <a:ext cx="1298783" cy="194182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5544664" name="TextBox 1765524423"/>
          <p:cNvSpPr txBox="1"/>
          <p:nvPr/>
        </p:nvSpPr>
        <p:spPr bwMode="auto">
          <a:xfrm>
            <a:off x="303246" y="226558"/>
            <a:ext cx="1171800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3600">
                <a:latin typeface="Open Sans Extrabold"/>
                <a:cs typeface="Open Sans Extrabold"/>
              </a:rPr>
              <a:t>Дополнительные проблемы векторизации</a:t>
            </a:r>
            <a:endParaRPr sz="3600">
              <a:latin typeface="Open Sans Extrabold"/>
              <a:cs typeface="Open Sans Extrabold"/>
            </a:endParaRPr>
          </a:p>
        </p:txBody>
      </p:sp>
      <p:pic>
        <p:nvPicPr>
          <p:cNvPr id="1373261381" name="Рисунок 49420904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0" y="3430799"/>
            <a:ext cx="12191716" cy="2160374"/>
          </a:xfrm>
          <a:prstGeom prst="rect">
            <a:avLst/>
          </a:prstGeom>
        </p:spPr>
      </p:pic>
      <p:sp>
        <p:nvSpPr>
          <p:cNvPr id="1134590152" name=""/>
          <p:cNvSpPr/>
          <p:nvPr/>
        </p:nvSpPr>
        <p:spPr bwMode="auto">
          <a:xfrm rot="0" flipH="0" flipV="0">
            <a:off x="4689828" y="3499784"/>
            <a:ext cx="340346" cy="2022405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19698011" name=""/>
          <p:cNvSpPr txBox="1"/>
          <p:nvPr/>
        </p:nvSpPr>
        <p:spPr bwMode="auto">
          <a:xfrm rot="0" flipH="0" flipV="0">
            <a:off x="4077675" y="1286240"/>
            <a:ext cx="5209679" cy="64044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Успешная векторизация не всегда приводит к повышению производительности</a:t>
            </a:r>
            <a:endParaRPr/>
          </a:p>
        </p:txBody>
      </p:sp>
      <p:cxnSp>
        <p:nvCxnSpPr>
          <p:cNvPr id="846012370" name=""/>
          <p:cNvCxnSpPr>
            <a:stCxn id="1519698011" idx="2"/>
            <a:endCxn id="1134590152" idx="0"/>
          </p:cNvCxnSpPr>
          <p:nvPr/>
        </p:nvCxnSpPr>
        <p:spPr bwMode="auto">
          <a:xfrm rot="5399978" flipH="0" flipV="0">
            <a:off x="4984706" y="1801975"/>
            <a:ext cx="1573103" cy="1822512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1813610" name=""/>
          <p:cNvSpPr/>
          <p:nvPr/>
        </p:nvSpPr>
        <p:spPr bwMode="auto">
          <a:xfrm rot="0" flipH="0" flipV="0">
            <a:off x="5366102" y="3497402"/>
            <a:ext cx="340345" cy="2022405"/>
          </a:xfrm>
          <a:prstGeom prst="flowChartProcess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684554317" name=""/>
          <p:cNvCxnSpPr>
            <a:stCxn id="1519698011" idx="2"/>
          </p:cNvCxnSpPr>
          <p:nvPr/>
        </p:nvCxnSpPr>
        <p:spPr bwMode="auto">
          <a:xfrm rot="5399978" flipH="0" flipV="0">
            <a:off x="5324034" y="2138922"/>
            <a:ext cx="1570722" cy="1146238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0611" name="TextBox 1765524423"/>
          <p:cNvSpPr txBox="1"/>
          <p:nvPr/>
        </p:nvSpPr>
        <p:spPr bwMode="auto">
          <a:xfrm>
            <a:off x="303246" y="226558"/>
            <a:ext cx="11736365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2800">
                <a:latin typeface="Open Sans Extrabold"/>
                <a:cs typeface="Open Sans Extrabold"/>
              </a:rPr>
              <a:t>Заключение и направление дальнейшей работы</a:t>
            </a:r>
            <a:endParaRPr sz="2800">
              <a:latin typeface="Open Sans Extrabold"/>
              <a:cs typeface="Open Sans Extrabold"/>
            </a:endParaRPr>
          </a:p>
        </p:txBody>
      </p:sp>
      <p:sp>
        <p:nvSpPr>
          <p:cNvPr id="1039509765" name=""/>
          <p:cNvSpPr txBox="1"/>
          <p:nvPr/>
        </p:nvSpPr>
        <p:spPr bwMode="auto">
          <a:xfrm rot="0" flipH="0" flipV="0">
            <a:off x="303246" y="1495424"/>
            <a:ext cx="10055809" cy="3383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 algn="just">
              <a:buFont typeface="Arial"/>
              <a:buChar char="•"/>
              <a:defRPr/>
            </a:pPr>
            <a:r>
              <a:rPr sz="2400"/>
              <a:t>Был реализован оптимизационный пасс, который помогает компилятору векторизовать класс невекторизуемых до этого циклов;</a:t>
            </a:r>
            <a:endParaRPr sz="2400"/>
          </a:p>
          <a:p>
            <a:pPr marL="283879" indent="-283879" algn="just">
              <a:buFont typeface="Arial"/>
              <a:buChar char="•"/>
              <a:defRPr/>
            </a:pPr>
            <a:endParaRPr sz="2400"/>
          </a:p>
          <a:p>
            <a:pPr marL="283879" indent="-283879" algn="just">
              <a:buFont typeface="Arial"/>
              <a:buChar char="•"/>
              <a:defRPr/>
            </a:pPr>
            <a:r>
              <a:rPr sz="2400"/>
              <a:t>Эффективность пасса была подтверждена экспериментально;</a:t>
            </a:r>
            <a:endParaRPr sz="2400"/>
          </a:p>
          <a:p>
            <a:pPr marL="283879" indent="-283879" algn="just">
              <a:buFont typeface="Arial"/>
              <a:buChar char="•"/>
              <a:defRPr/>
            </a:pPr>
            <a:endParaRPr sz="2400"/>
          </a:p>
          <a:p>
            <a:pPr marL="283879" indent="-283879" algn="just">
              <a:buFont typeface="Arial"/>
              <a:buChar char="•"/>
              <a:defRPr/>
            </a:pPr>
            <a:r>
              <a:rPr sz="2400"/>
              <a:t>В дальнейшем планируется интеграция реализованного алгоритма в пайплайн </a:t>
            </a:r>
            <a:r>
              <a:rPr lang="en-US" sz="2400"/>
              <a:t>LLVM </a:t>
            </a:r>
            <a:r>
              <a:rPr lang="ru-RU" sz="2400"/>
              <a:t>для избавления от необходимости в отдельном пассе.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1F386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7836910" name="Прямоугольник 745972733"/>
          <p:cNvSpPr/>
          <p:nvPr/>
        </p:nvSpPr>
        <p:spPr bwMode="auto">
          <a:xfrm>
            <a:off x="430247" y="1313998"/>
            <a:ext cx="11247436" cy="2346201"/>
          </a:xfrm>
          <a:prstGeom prst="rect">
            <a:avLst/>
          </a:prstGeom>
          <a:solidFill>
            <a:srgbClr val="020F28">
              <a:alpha val="13999"/>
            </a:srgbClr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216000" tIns="45720" rIns="91440" bIns="45720" numCol="1" spcCol="0" rtlCol="0" fromWordArt="0" anchor="ctr" anchorCtr="0" forceAA="0" compatLnSpc="0"/>
          <a:lstStyle/>
          <a:p>
            <a:pPr algn="ctr">
              <a:defRPr/>
            </a:pPr>
            <a:r>
              <a:rPr lang="ru-RU" sz="4800" b="1" i="0" u="none" strike="noStrike" cap="none" spc="0">
                <a:solidFill>
                  <a:schemeClr val="lt1"/>
                </a:solidFill>
                <a:latin typeface="Open Sans"/>
                <a:ea typeface="Open Sans"/>
                <a:cs typeface="Open Sans"/>
              </a:rPr>
              <a:t>Спасибо! Вопросы</a:t>
            </a:r>
            <a:r>
              <a:rPr lang="en-US" sz="4800" b="1" i="0" u="none" strike="noStrike" cap="none" spc="0">
                <a:solidFill>
                  <a:schemeClr val="lt1"/>
                </a:solidFill>
                <a:latin typeface="Open Sans"/>
                <a:ea typeface="Open Sans"/>
                <a:cs typeface="Open Sans"/>
              </a:rPr>
              <a:t>?</a:t>
            </a:r>
            <a:endParaRPr sz="4800">
              <a:latin typeface="Open Sans"/>
              <a:cs typeface="Open Sans"/>
            </a:endParaRPr>
          </a:p>
        </p:txBody>
      </p:sp>
      <p:pic>
        <p:nvPicPr>
          <p:cNvPr id="1385656665" name="Рисунок 180220368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-7011" y="49299"/>
            <a:ext cx="4964950" cy="952020"/>
          </a:xfrm>
          <a:prstGeom prst="rect">
            <a:avLst/>
          </a:prstGeom>
        </p:spPr>
      </p:pic>
      <p:pic>
        <p:nvPicPr>
          <p:cNvPr id="1841564934" name="Рисунок 1146636237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663196" y="191818"/>
            <a:ext cx="1405647" cy="421692"/>
          </a:xfrm>
          <a:prstGeom prst="rect">
            <a:avLst/>
          </a:prstGeom>
        </p:spPr>
      </p:pic>
      <p:pic>
        <p:nvPicPr>
          <p:cNvPr id="945619320" name="Рисунок 619676707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11801" y="191818"/>
            <a:ext cx="1039196" cy="484845"/>
          </a:xfrm>
          <a:prstGeom prst="rect">
            <a:avLst/>
          </a:prstGeom>
        </p:spPr>
      </p:pic>
      <p:sp>
        <p:nvSpPr>
          <p:cNvPr id="1950234159" name="Прямоугольник 13"/>
          <p:cNvSpPr/>
          <p:nvPr/>
        </p:nvSpPr>
        <p:spPr bwMode="auto">
          <a:xfrm>
            <a:off x="365256" y="3915842"/>
            <a:ext cx="11462924" cy="2164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2400" b="1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Кулик Павел Евгеньевич</a:t>
            </a:r>
            <a:endParaRPr sz="100">
              <a:solidFill>
                <a:schemeClr val="bg1"/>
              </a:solidFill>
              <a:latin typeface="Open Sans"/>
              <a:cs typeface="Open San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студент </a:t>
            </a:r>
            <a:r>
              <a:rPr lang="en-US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4</a:t>
            </a:r>
            <a: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 курса</a:t>
            </a:r>
            <a:endParaRPr/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 </a:t>
            </a:r>
            <a:endParaRPr/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Институт информатики и вычислительной техники</a:t>
            </a:r>
            <a:b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</a:br>
            <a:r>
              <a:rPr lang="ru-RU" sz="160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Сибирский государственный университет телекоммуникаций и информатики</a:t>
            </a:r>
            <a:endParaRPr>
              <a:solidFill>
                <a:schemeClr val="bg1"/>
              </a:solidFill>
              <a:latin typeface="Open Sans"/>
              <a:cs typeface="Open San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pashakulik58@gmail.com</a:t>
            </a:r>
            <a:endParaRPr sz="1400">
              <a:solidFill>
                <a:schemeClr val="bg1"/>
              </a:solidFill>
              <a:latin typeface="Open Sans"/>
              <a:cs typeface="Open San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endParaRPr sz="1600">
              <a:solidFill>
                <a:schemeClr val="bg1"/>
              </a:solidFill>
              <a:latin typeface="Open Sans"/>
              <a:cs typeface="Open Sans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b="0" i="0" u="none" strike="noStrike" cap="none" spc="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Научный руководитель — д.т.н. профессор Курносов М.Г.</a:t>
            </a:r>
            <a:endParaRPr sz="1600">
              <a:solidFill>
                <a:schemeClr val="bg1"/>
              </a:solidFill>
              <a:latin typeface="Open Sans"/>
              <a:cs typeface="Open Sans"/>
            </a:endParaRPr>
          </a:p>
        </p:txBody>
      </p:sp>
      <p:sp>
        <p:nvSpPr>
          <p:cNvPr id="1412903870" name="Прямоугольник 15"/>
          <p:cNvSpPr/>
          <p:nvPr/>
        </p:nvSpPr>
        <p:spPr bwMode="auto">
          <a:xfrm>
            <a:off x="173592" y="6363405"/>
            <a:ext cx="11839250" cy="6709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000" b="0" i="0" u="none" strike="noStrike" cap="none" spc="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Региональная научно-практическая конференция для магистрантов и аспирантов «Шаг в науку - 2025»</a:t>
            </a:r>
            <a:endParaRPr sz="1000" b="0" i="0" u="none" strike="noStrike" cap="none" spc="0">
              <a:solidFill>
                <a:schemeClr val="bg1"/>
              </a:solidFill>
              <a:latin typeface="Open Sans"/>
              <a:ea typeface="Open Sans"/>
              <a:cs typeface="Open Sans"/>
            </a:endParaRPr>
          </a:p>
          <a:p>
            <a:pPr algn="ctr">
              <a:defRPr/>
            </a:pPr>
            <a:r>
              <a:rPr lang="ru-RU" sz="1000" b="0" i="0" u="none" strike="noStrike" cap="none" spc="0">
                <a:solidFill>
                  <a:schemeClr val="bg1"/>
                </a:solidFill>
                <a:latin typeface="Open Sans"/>
                <a:ea typeface="Open Sans"/>
                <a:cs typeface="Open Sans"/>
              </a:rPr>
              <a:t>Новосибирск, СибГУТИ, 20 ноября 2025</a:t>
            </a:r>
            <a:endParaRPr sz="1000" b="0" i="0" u="none" strike="noStrike" cap="none" spc="0">
              <a:solidFill>
                <a:schemeClr val="bg1"/>
              </a:solidFill>
              <a:latin typeface="Open Sans"/>
              <a:cs typeface="Open Sans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49</Slides>
  <Notes>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pavel kulik</dc:creator>
  <cp:lastModifiedBy/>
  <cp:revision>12</cp:revision>
  <dcterms:modified xsi:type="dcterms:W3CDTF">2025-11-18T16:00:14Z</dcterms:modified>
</cp:coreProperties>
</file>